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6"/>
    <a:srgbClr val="121E2E"/>
    <a:srgbClr val="111C2D"/>
    <a:srgbClr val="F7F8FA"/>
    <a:srgbClr val="005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8290B-2DA5-408D-A83B-90B17D3663D1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C9E02-03DB-4508-8CCE-80771B074D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69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961471-FEEB-BB99-9703-EC5C53177867}"/>
              </a:ext>
            </a:extLst>
          </p:cNvPr>
          <p:cNvSpPr txBox="1"/>
          <p:nvPr userDrawn="1"/>
        </p:nvSpPr>
        <p:spPr>
          <a:xfrm>
            <a:off x="1670859" y="567636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640x100</a:t>
            </a:r>
            <a:endParaRPr lang="ko-KR" alt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52ADF-C576-C1CC-96D3-0561A0067E79}"/>
              </a:ext>
            </a:extLst>
          </p:cNvPr>
          <p:cNvSpPr txBox="1"/>
          <p:nvPr userDrawn="1"/>
        </p:nvSpPr>
        <p:spPr>
          <a:xfrm>
            <a:off x="1670859" y="2679068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970x250</a:t>
            </a:r>
            <a:endParaRPr lang="ko-KR" altLang="en-US" sz="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BF172-669F-3B26-C60B-0EE1CB3390A7}"/>
              </a:ext>
            </a:extLst>
          </p:cNvPr>
          <p:cNvSpPr txBox="1"/>
          <p:nvPr userDrawn="1"/>
        </p:nvSpPr>
        <p:spPr>
          <a:xfrm>
            <a:off x="6140336" y="2679068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160x600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59106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6FCCB-37EF-D6C7-1BF3-9E702134A9F4}"/>
              </a:ext>
            </a:extLst>
          </p:cNvPr>
          <p:cNvSpPr txBox="1"/>
          <p:nvPr userDrawn="1"/>
        </p:nvSpPr>
        <p:spPr>
          <a:xfrm>
            <a:off x="1670859" y="750516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1200x628</a:t>
            </a:r>
            <a:endParaRPr lang="ko-KR" alt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2C385-63C2-991A-24B3-956F2B153044}"/>
              </a:ext>
            </a:extLst>
          </p:cNvPr>
          <p:cNvSpPr txBox="1"/>
          <p:nvPr userDrawn="1"/>
        </p:nvSpPr>
        <p:spPr>
          <a:xfrm>
            <a:off x="972590" y="3198168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1200x1200</a:t>
            </a:r>
            <a:endParaRPr lang="ko-KR" alt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3D362-3C63-5756-C023-5BABAB622B67}"/>
              </a:ext>
            </a:extLst>
          </p:cNvPr>
          <p:cNvSpPr txBox="1"/>
          <p:nvPr userDrawn="1"/>
        </p:nvSpPr>
        <p:spPr>
          <a:xfrm>
            <a:off x="3000895" y="3198168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1200x150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90554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1C0F35-0607-73D4-4989-E8C59EF8DD2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7663185"/>
              </p:ext>
            </p:extLst>
          </p:nvPr>
        </p:nvGraphicFramePr>
        <p:xfrm>
          <a:off x="2778815" y="3067232"/>
          <a:ext cx="4039674" cy="1075614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00607">
                  <a:extLst>
                    <a:ext uri="{9D8B030D-6E8A-4147-A177-3AD203B41FA5}">
                      <a16:colId xmlns:a16="http://schemas.microsoft.com/office/drawing/2014/main" val="2834620657"/>
                    </a:ext>
                  </a:extLst>
                </a:gridCol>
                <a:gridCol w="3539067">
                  <a:extLst>
                    <a:ext uri="{9D8B030D-6E8A-4147-A177-3AD203B41FA5}">
                      <a16:colId xmlns:a16="http://schemas.microsoft.com/office/drawing/2014/main" val="4027015117"/>
                    </a:ext>
                  </a:extLst>
                </a:gridCol>
              </a:tblGrid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5327607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19088911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727836568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722110703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altLang="ko-KR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3202077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70F5D80-10AA-75EB-7D9E-0E0DB44F47A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129393"/>
              </p:ext>
            </p:extLst>
          </p:nvPr>
        </p:nvGraphicFramePr>
        <p:xfrm>
          <a:off x="52489" y="3067232"/>
          <a:ext cx="2726326" cy="1075616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34533">
                  <a:extLst>
                    <a:ext uri="{9D8B030D-6E8A-4147-A177-3AD203B41FA5}">
                      <a16:colId xmlns:a16="http://schemas.microsoft.com/office/drawing/2014/main" val="2008272042"/>
                    </a:ext>
                  </a:extLst>
                </a:gridCol>
                <a:gridCol w="2191793">
                  <a:extLst>
                    <a:ext uri="{9D8B030D-6E8A-4147-A177-3AD203B41FA5}">
                      <a16:colId xmlns:a16="http://schemas.microsoft.com/office/drawing/2014/main" val="292669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77791821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287994551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431253487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4545384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19146382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4C85093-7A46-F00C-3131-701BF539BA7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96629788"/>
              </p:ext>
            </p:extLst>
          </p:nvPr>
        </p:nvGraphicFramePr>
        <p:xfrm>
          <a:off x="2778815" y="4142846"/>
          <a:ext cx="4039674" cy="1075614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00607">
                  <a:extLst>
                    <a:ext uri="{9D8B030D-6E8A-4147-A177-3AD203B41FA5}">
                      <a16:colId xmlns:a16="http://schemas.microsoft.com/office/drawing/2014/main" val="2834620657"/>
                    </a:ext>
                  </a:extLst>
                </a:gridCol>
                <a:gridCol w="3539067">
                  <a:extLst>
                    <a:ext uri="{9D8B030D-6E8A-4147-A177-3AD203B41FA5}">
                      <a16:colId xmlns:a16="http://schemas.microsoft.com/office/drawing/2014/main" val="4027015117"/>
                    </a:ext>
                  </a:extLst>
                </a:gridCol>
              </a:tblGrid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5327607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19088911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727836568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722110703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altLang="ko-KR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320207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A8E0CD3-6908-521B-0AE5-F1860456180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0783403"/>
              </p:ext>
            </p:extLst>
          </p:nvPr>
        </p:nvGraphicFramePr>
        <p:xfrm>
          <a:off x="52489" y="4142846"/>
          <a:ext cx="2726326" cy="1075616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34533">
                  <a:extLst>
                    <a:ext uri="{9D8B030D-6E8A-4147-A177-3AD203B41FA5}">
                      <a16:colId xmlns:a16="http://schemas.microsoft.com/office/drawing/2014/main" val="2008272042"/>
                    </a:ext>
                  </a:extLst>
                </a:gridCol>
                <a:gridCol w="2191793">
                  <a:extLst>
                    <a:ext uri="{9D8B030D-6E8A-4147-A177-3AD203B41FA5}">
                      <a16:colId xmlns:a16="http://schemas.microsoft.com/office/drawing/2014/main" val="292669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77791821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287994551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431253487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4545384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191463824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D1F3968-4764-019A-78C0-7C6FEE1C63E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96629788"/>
              </p:ext>
            </p:extLst>
          </p:nvPr>
        </p:nvGraphicFramePr>
        <p:xfrm>
          <a:off x="2778815" y="5216525"/>
          <a:ext cx="4039674" cy="1075614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00607">
                  <a:extLst>
                    <a:ext uri="{9D8B030D-6E8A-4147-A177-3AD203B41FA5}">
                      <a16:colId xmlns:a16="http://schemas.microsoft.com/office/drawing/2014/main" val="2834620657"/>
                    </a:ext>
                  </a:extLst>
                </a:gridCol>
                <a:gridCol w="3539067">
                  <a:extLst>
                    <a:ext uri="{9D8B030D-6E8A-4147-A177-3AD203B41FA5}">
                      <a16:colId xmlns:a16="http://schemas.microsoft.com/office/drawing/2014/main" val="4027015117"/>
                    </a:ext>
                  </a:extLst>
                </a:gridCol>
              </a:tblGrid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5327607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19088911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727836568"/>
                  </a:ext>
                </a:extLst>
              </a:tr>
              <a:tr h="209728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722110703"/>
                  </a:ext>
                </a:extLst>
              </a:tr>
              <a:tr h="223215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altLang="ko-KR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32020779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CB62A69-522D-5FF3-68E5-0244A860D3E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0783403"/>
              </p:ext>
            </p:extLst>
          </p:nvPr>
        </p:nvGraphicFramePr>
        <p:xfrm>
          <a:off x="52489" y="5216525"/>
          <a:ext cx="2726326" cy="1075616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34533">
                  <a:extLst>
                    <a:ext uri="{9D8B030D-6E8A-4147-A177-3AD203B41FA5}">
                      <a16:colId xmlns:a16="http://schemas.microsoft.com/office/drawing/2014/main" val="2008272042"/>
                    </a:ext>
                  </a:extLst>
                </a:gridCol>
                <a:gridCol w="2191793">
                  <a:extLst>
                    <a:ext uri="{9D8B030D-6E8A-4147-A177-3AD203B41FA5}">
                      <a16:colId xmlns:a16="http://schemas.microsoft.com/office/drawing/2014/main" val="292669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77791821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287994551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431253487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45453849"/>
                  </a:ext>
                </a:extLst>
              </a:tr>
              <a:tr h="234614">
                <a:tc>
                  <a:txBody>
                    <a:bodyPr/>
                    <a:lstStyle/>
                    <a:p>
                      <a:pPr marL="0" algn="l" defTabSz="914400" rtl="0" eaLnBrk="1" fontAlgn="b" latinLnBrk="1" hangingPunct="1"/>
                      <a:r>
                        <a:rPr lang="ko-KR" altLang="en-US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제목</a:t>
                      </a:r>
                      <a:r>
                        <a:rPr lang="en-US" altLang="ko-KR" sz="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5585" marR="15585" marT="10390" marB="1039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19146382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283BA7C-9CD8-4FC9-0CDF-2A8AB650EFC5}"/>
              </a:ext>
            </a:extLst>
          </p:cNvPr>
          <p:cNvSpPr txBox="1"/>
          <p:nvPr userDrawn="1"/>
        </p:nvSpPr>
        <p:spPr>
          <a:xfrm>
            <a:off x="7040569" y="3429000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1200x628</a:t>
            </a:r>
            <a:endParaRPr lang="ko-KR" alt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A88D7-FDC5-A816-599F-86E1AC2A2548}"/>
              </a:ext>
            </a:extLst>
          </p:cNvPr>
          <p:cNvSpPr txBox="1"/>
          <p:nvPr userDrawn="1"/>
        </p:nvSpPr>
        <p:spPr>
          <a:xfrm>
            <a:off x="492757" y="1633665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1200x1200</a:t>
            </a:r>
            <a:endParaRPr lang="ko-KR" alt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FEDC3-63F7-2FBA-9D9D-6E1A8827FD35}"/>
              </a:ext>
            </a:extLst>
          </p:cNvPr>
          <p:cNvSpPr txBox="1"/>
          <p:nvPr userDrawn="1"/>
        </p:nvSpPr>
        <p:spPr>
          <a:xfrm>
            <a:off x="2919414" y="1633665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1200x1500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9407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563177C-1C5E-BCAE-6F79-851E6866B11D}"/>
              </a:ext>
            </a:extLst>
          </p:cNvPr>
          <p:cNvSpPr/>
          <p:nvPr userDrawn="1"/>
        </p:nvSpPr>
        <p:spPr>
          <a:xfrm>
            <a:off x="337452" y="804449"/>
            <a:ext cx="2317240" cy="170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A7477-F5E4-6803-4F98-23DB5C6F038E}"/>
              </a:ext>
            </a:extLst>
          </p:cNvPr>
          <p:cNvSpPr txBox="1"/>
          <p:nvPr userDrawn="1"/>
        </p:nvSpPr>
        <p:spPr>
          <a:xfrm>
            <a:off x="147411" y="2748885"/>
            <a:ext cx="2513692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한국금융투자 협회 </a:t>
            </a:r>
            <a:r>
              <a:rPr lang="ko-KR" altLang="en-US" sz="7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심사필</a:t>
            </a: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제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24-OOOOO</a:t>
            </a:r>
            <a:r>
              <a:rPr lang="ko-KR" altLang="en-US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호 </a:t>
            </a:r>
            <a:endParaRPr lang="en-US" altLang="ko-KR" sz="70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2024-OO-OO ~ 2025-OO-OO) </a:t>
            </a:r>
          </a:p>
          <a:p>
            <a:pPr>
              <a:lnSpc>
                <a:spcPct val="140000"/>
              </a:lnSpc>
            </a:pP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삼성증권 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준법감시인 </a:t>
            </a:r>
            <a:r>
              <a:rPr lang="ko-KR" altLang="en-US" sz="7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심사필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제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24-BOOOO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호</a:t>
            </a:r>
            <a:endParaRPr lang="en-US" altLang="ko-KR" sz="7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2024.OO.OO ~ 2025.OO.OO)</a:t>
            </a:r>
            <a:endParaRPr lang="ko-KR" altLang="en-US" sz="7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2F65F-09FD-807F-473D-DE4F7E0E3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3134"/>
          <a:stretch/>
        </p:blipFill>
        <p:spPr>
          <a:xfrm>
            <a:off x="289546" y="43278"/>
            <a:ext cx="2413053" cy="3761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FAA8D9-8300-8009-2F06-4D28380BE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8001" b="-1875"/>
          <a:stretch/>
        </p:blipFill>
        <p:spPr>
          <a:xfrm>
            <a:off x="243277" y="3370812"/>
            <a:ext cx="2413053" cy="349965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42B701A-1441-3904-0840-B0B5F7CD9060}"/>
              </a:ext>
            </a:extLst>
          </p:cNvPr>
          <p:cNvSpPr/>
          <p:nvPr userDrawn="1"/>
        </p:nvSpPr>
        <p:spPr>
          <a:xfrm>
            <a:off x="243277" y="6003673"/>
            <a:ext cx="2332372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6EBC34-45DA-8E5B-F1D1-5ABA84C00019}"/>
              </a:ext>
            </a:extLst>
          </p:cNvPr>
          <p:cNvSpPr/>
          <p:nvPr userDrawn="1"/>
        </p:nvSpPr>
        <p:spPr>
          <a:xfrm>
            <a:off x="1731255" y="5866131"/>
            <a:ext cx="844394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454862-F054-D3BA-B463-F9E48D703B0F}"/>
              </a:ext>
            </a:extLst>
          </p:cNvPr>
          <p:cNvSpPr/>
          <p:nvPr userDrawn="1"/>
        </p:nvSpPr>
        <p:spPr>
          <a:xfrm>
            <a:off x="2905006" y="804449"/>
            <a:ext cx="2317240" cy="170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6BCED1-FD49-E8B9-E2B8-E9CD429958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3134"/>
          <a:stretch/>
        </p:blipFill>
        <p:spPr>
          <a:xfrm>
            <a:off x="2857100" y="43278"/>
            <a:ext cx="2413053" cy="3761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765DC0-6429-AFE4-AD8C-3693D4D51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8001" b="-1875"/>
          <a:stretch/>
        </p:blipFill>
        <p:spPr>
          <a:xfrm>
            <a:off x="2810831" y="3370812"/>
            <a:ext cx="2413053" cy="34996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8BDB81-2AA5-587B-01A3-9E982797A0A0}"/>
              </a:ext>
            </a:extLst>
          </p:cNvPr>
          <p:cNvSpPr/>
          <p:nvPr userDrawn="1"/>
        </p:nvSpPr>
        <p:spPr>
          <a:xfrm>
            <a:off x="2810831" y="6003673"/>
            <a:ext cx="2332372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18F5FB-E4D1-000A-5B9B-0B24C2909496}"/>
              </a:ext>
            </a:extLst>
          </p:cNvPr>
          <p:cNvSpPr/>
          <p:nvPr userDrawn="1"/>
        </p:nvSpPr>
        <p:spPr>
          <a:xfrm>
            <a:off x="4298809" y="5866131"/>
            <a:ext cx="844394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F800DF-B087-F89A-0EF6-9A47863217F2}"/>
              </a:ext>
            </a:extLst>
          </p:cNvPr>
          <p:cNvSpPr txBox="1"/>
          <p:nvPr userDrawn="1"/>
        </p:nvSpPr>
        <p:spPr>
          <a:xfrm>
            <a:off x="2735072" y="2748885"/>
            <a:ext cx="2513692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한국금융투자 협회 </a:t>
            </a:r>
            <a:r>
              <a:rPr lang="ko-KR" altLang="en-US" sz="7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심사필</a:t>
            </a: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제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24-OOOOO</a:t>
            </a:r>
            <a:r>
              <a:rPr lang="ko-KR" altLang="en-US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호 </a:t>
            </a:r>
            <a:endParaRPr lang="en-US" altLang="ko-KR" sz="70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2024-OO-OO ~ 2025-OO-OO) </a:t>
            </a:r>
          </a:p>
          <a:p>
            <a:pPr>
              <a:lnSpc>
                <a:spcPct val="140000"/>
              </a:lnSpc>
            </a:pP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삼성증권 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준법감시인 </a:t>
            </a:r>
            <a:r>
              <a:rPr lang="ko-KR" altLang="en-US" sz="7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심사필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제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24-BOOOO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호</a:t>
            </a:r>
            <a:endParaRPr lang="en-US" altLang="ko-KR" sz="7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2024.OO.OO ~ 2025.OO.OO)</a:t>
            </a:r>
            <a:endParaRPr lang="ko-KR" altLang="en-US" sz="7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F571B27-895F-D6CB-0D5B-B0C7B770BF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144" y="13750"/>
            <a:ext cx="2151761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그림 36" descr="클립아트, 스케치, 곰, 그림이(가) 표시된 사진&#10;&#10;자동 생성된 설명">
            <a:extLst>
              <a:ext uri="{FF2B5EF4-FFF2-40B4-BE49-F238E27FC236}">
                <a16:creationId xmlns:a16="http://schemas.microsoft.com/office/drawing/2014/main" id="{0729E696-C388-A438-5DFB-C6AB88A4CA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007" y="152418"/>
            <a:ext cx="1985428" cy="1985428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585E38-D10D-F05C-7147-5BFA54B04946}"/>
              </a:ext>
            </a:extLst>
          </p:cNvPr>
          <p:cNvSpPr/>
          <p:nvPr userDrawn="1"/>
        </p:nvSpPr>
        <p:spPr>
          <a:xfrm>
            <a:off x="5378385" y="12465"/>
            <a:ext cx="2061556" cy="2992582"/>
          </a:xfrm>
          <a:prstGeom prst="rect">
            <a:avLst/>
          </a:prstGeom>
          <a:solidFill>
            <a:srgbClr val="12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607F8A-4E73-B60A-80CC-65DC1F173643}"/>
              </a:ext>
            </a:extLst>
          </p:cNvPr>
          <p:cNvSpPr/>
          <p:nvPr userDrawn="1"/>
        </p:nvSpPr>
        <p:spPr>
          <a:xfrm>
            <a:off x="6093228" y="3309517"/>
            <a:ext cx="665018" cy="19429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D35FC5-9B09-80B6-F1AD-2328418EC0CE}"/>
              </a:ext>
            </a:extLst>
          </p:cNvPr>
          <p:cNvSpPr/>
          <p:nvPr userDrawn="1"/>
        </p:nvSpPr>
        <p:spPr>
          <a:xfrm>
            <a:off x="5894259" y="3284407"/>
            <a:ext cx="1101992" cy="219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457200" rtl="0" eaLnBrk="1" latinLnBrk="0" hangingPunct="1">
              <a:lnSpc>
                <a:spcPct val="140000"/>
              </a:lnSpc>
            </a:pPr>
            <a:r>
              <a:rPr lang="ko-KR" altLang="en-US" sz="9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자세히 알아보기</a:t>
            </a: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08541212-9D02-96E2-082F-82F4CEC62B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633" y="13750"/>
            <a:ext cx="2151761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그림 41" descr="클립아트, 스케치, 곰, 그림이(가) 표시된 사진&#10;&#10;자동 생성된 설명">
            <a:extLst>
              <a:ext uri="{FF2B5EF4-FFF2-40B4-BE49-F238E27FC236}">
                <a16:creationId xmlns:a16="http://schemas.microsoft.com/office/drawing/2014/main" id="{3CE001A5-5BF4-1A48-F76A-34D4B9D954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96" y="152418"/>
            <a:ext cx="1985428" cy="1985428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B3F5B9A3-A507-785E-5875-854E7B03E7CD}"/>
              </a:ext>
            </a:extLst>
          </p:cNvPr>
          <p:cNvSpPr/>
          <p:nvPr userDrawn="1"/>
        </p:nvSpPr>
        <p:spPr>
          <a:xfrm>
            <a:off x="7679874" y="12465"/>
            <a:ext cx="2061556" cy="2992582"/>
          </a:xfrm>
          <a:prstGeom prst="rect">
            <a:avLst/>
          </a:prstGeom>
          <a:solidFill>
            <a:srgbClr val="12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E2B37FB-0612-B32D-0197-E50BAAB64E6C}"/>
              </a:ext>
            </a:extLst>
          </p:cNvPr>
          <p:cNvSpPr/>
          <p:nvPr userDrawn="1"/>
        </p:nvSpPr>
        <p:spPr>
          <a:xfrm>
            <a:off x="8394717" y="3309517"/>
            <a:ext cx="665018" cy="19429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F40F5CD-85AF-1351-044F-6E25212634CE}"/>
              </a:ext>
            </a:extLst>
          </p:cNvPr>
          <p:cNvSpPr/>
          <p:nvPr userDrawn="1"/>
        </p:nvSpPr>
        <p:spPr>
          <a:xfrm>
            <a:off x="8195748" y="3284407"/>
            <a:ext cx="1101992" cy="219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457200" rtl="0" eaLnBrk="1" latinLnBrk="0" hangingPunct="1">
              <a:lnSpc>
                <a:spcPct val="140000"/>
              </a:lnSpc>
            </a:pPr>
            <a:r>
              <a:rPr lang="ko-KR" altLang="en-US" sz="9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자세히 알아보기</a:t>
            </a:r>
          </a:p>
        </p:txBody>
      </p:sp>
    </p:spTree>
    <p:extLst>
      <p:ext uri="{BB962C8B-B14F-4D97-AF65-F5344CB8AC3E}">
        <p14:creationId xmlns:p14="http://schemas.microsoft.com/office/powerpoint/2010/main" val="3724366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987609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13632" y="469792"/>
            <a:ext cx="9478735" cy="6346644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175850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700"/>
              <a:t>모바일 웹 </a:t>
            </a:r>
            <a:r>
              <a:rPr lang="en-US" altLang="ko-KR" sz="700"/>
              <a:t>/ </a:t>
            </a:r>
            <a:r>
              <a:rPr lang="ko-KR" altLang="en-US" sz="700"/>
              <a:t>모바일 앱 </a:t>
            </a:r>
            <a:r>
              <a:rPr lang="en-US" altLang="ko-KR" sz="700"/>
              <a:t>/ PC </a:t>
            </a:r>
            <a:endParaRPr lang="ko-KR" altLang="en-US" sz="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388770"/>
            <a:ext cx="13035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561810"/>
            <a:ext cx="4414612" cy="20407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700"/>
              <a:t>카카오</a:t>
            </a:r>
            <a:r>
              <a:rPr lang="en-US" altLang="ko-KR" sz="700"/>
              <a:t>/</a:t>
            </a:r>
            <a:r>
              <a:rPr lang="ko-KR" altLang="en-US" sz="700"/>
              <a:t>네이버</a:t>
            </a:r>
            <a:r>
              <a:rPr lang="en-US" altLang="ko-KR" sz="700"/>
              <a:t>/</a:t>
            </a:r>
            <a:r>
              <a:rPr lang="ko-KR" altLang="en-US" sz="700"/>
              <a:t>토스</a:t>
            </a:r>
            <a:r>
              <a:rPr lang="en-US" altLang="ko-KR" sz="700"/>
              <a:t>, </a:t>
            </a:r>
            <a:r>
              <a:rPr lang="ko-KR" altLang="en-US" sz="700"/>
              <a:t>비즈보드 </a:t>
            </a:r>
            <a:r>
              <a:rPr lang="en-US" altLang="ko-KR" sz="700"/>
              <a:t>/ </a:t>
            </a:r>
            <a:r>
              <a:rPr lang="ko-KR" altLang="en-US" sz="700"/>
              <a:t>스마트채널 네트워크형 유형은 몰로코</a:t>
            </a:r>
            <a:r>
              <a:rPr lang="en-US" altLang="ko-KR" sz="700"/>
              <a:t>, </a:t>
            </a:r>
            <a:r>
              <a:rPr lang="ko-KR" altLang="en-US" sz="700"/>
              <a:t>애피어</a:t>
            </a:r>
            <a:r>
              <a:rPr lang="en-US" altLang="ko-KR" sz="700"/>
              <a:t>, </a:t>
            </a:r>
            <a:r>
              <a:rPr lang="ko-KR" altLang="en-US" sz="700"/>
              <a:t>크리테오</a:t>
            </a:r>
            <a:r>
              <a:rPr lang="en-US" altLang="ko-KR" sz="700"/>
              <a:t>, </a:t>
            </a:r>
            <a:r>
              <a:rPr lang="ko-KR" altLang="en-US" sz="700"/>
              <a:t>애드패커 등</a:t>
            </a:r>
            <a:endParaRPr lang="en-US" altLang="ko-KR" sz="7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65093A6-119E-1871-E4C9-2C9BC85338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430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26" name="Picture 2" descr="소재 이미지">
            <a:extLst>
              <a:ext uri="{FF2B5EF4-FFF2-40B4-BE49-F238E27FC236}">
                <a16:creationId xmlns:a16="http://schemas.microsoft.com/office/drawing/2014/main" id="{FFAF78C6-C8EC-BEF0-1E1B-0CDD670D5B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ACD59D-F479-4487-16FE-A1EDE330E3B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52974" y="2838697"/>
            <a:ext cx="3516723" cy="1872951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C2292341-84DB-7579-ED70-9D9F0BE41D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5067756"/>
            <a:ext cx="3426562" cy="601855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92F48A-B73E-9C86-B15F-D4CCF896AE8D}"/>
              </a:ext>
            </a:extLst>
          </p:cNvPr>
          <p:cNvSpPr txBox="1"/>
          <p:nvPr userDrawn="1"/>
        </p:nvSpPr>
        <p:spPr>
          <a:xfrm>
            <a:off x="543136" y="1154415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비즈보드 </a:t>
            </a:r>
            <a:r>
              <a:rPr lang="en-US" altLang="ko-KR" sz="900"/>
              <a:t>/ </a:t>
            </a:r>
            <a:r>
              <a:rPr lang="ko-KR" altLang="en-US" sz="900"/>
              <a:t>스마트채널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92600-E14F-2A3C-AEEE-A14D794402F7}"/>
              </a:ext>
            </a:extLst>
          </p:cNvPr>
          <p:cNvSpPr txBox="1"/>
          <p:nvPr userDrawn="1"/>
        </p:nvSpPr>
        <p:spPr>
          <a:xfrm>
            <a:off x="543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네이티브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62586-A807-AE09-E230-7336ADF45CF2}"/>
              </a:ext>
            </a:extLst>
          </p:cNvPr>
          <p:cNvSpPr txBox="1"/>
          <p:nvPr userDrawn="1"/>
        </p:nvSpPr>
        <p:spPr>
          <a:xfrm>
            <a:off x="4419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커뮤니케이션애드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F7354-2615-1FF9-0FD8-FD69EE951BFA}"/>
              </a:ext>
            </a:extLst>
          </p:cNvPr>
          <p:cNvSpPr txBox="1"/>
          <p:nvPr userDrawn="1"/>
        </p:nvSpPr>
        <p:spPr>
          <a:xfrm>
            <a:off x="549066" y="4836924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토스 혜택탭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4E719AF-1225-B795-E2BD-3D4C7C011A4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57953" y="2904265"/>
            <a:ext cx="3723730" cy="8255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45291D3-60B8-7E28-FC3C-ED02E78ACD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b="27576"/>
          <a:stretch/>
        </p:blipFill>
        <p:spPr>
          <a:xfrm>
            <a:off x="4357952" y="3802523"/>
            <a:ext cx="3723730" cy="8026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4C743D3-0318-7D9F-3E3F-99092191822E}"/>
              </a:ext>
            </a:extLst>
          </p:cNvPr>
          <p:cNvSpPr/>
          <p:nvPr userDrawn="1"/>
        </p:nvSpPr>
        <p:spPr>
          <a:xfrm>
            <a:off x="602166" y="1750741"/>
            <a:ext cx="2302727" cy="53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B9FAB9-31A7-5DA0-CB94-ED44C8410106}"/>
              </a:ext>
            </a:extLst>
          </p:cNvPr>
          <p:cNvSpPr/>
          <p:nvPr userDrawn="1"/>
        </p:nvSpPr>
        <p:spPr>
          <a:xfrm>
            <a:off x="3287751" y="1427863"/>
            <a:ext cx="1357729" cy="97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687E9B-9A1A-3ADF-56BA-58C5D371DC59}"/>
              </a:ext>
            </a:extLst>
          </p:cNvPr>
          <p:cNvSpPr/>
          <p:nvPr userDrawn="1"/>
        </p:nvSpPr>
        <p:spPr>
          <a:xfrm>
            <a:off x="5257439" y="1752688"/>
            <a:ext cx="2336541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E7FE92-3CC4-833C-C855-0B5B2A18CF8E}"/>
              </a:ext>
            </a:extLst>
          </p:cNvPr>
          <p:cNvSpPr/>
          <p:nvPr userDrawn="1"/>
        </p:nvSpPr>
        <p:spPr>
          <a:xfrm>
            <a:off x="7855673" y="1537046"/>
            <a:ext cx="1448161" cy="861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798467-1F19-85BB-7935-07EA20770065}"/>
              </a:ext>
            </a:extLst>
          </p:cNvPr>
          <p:cNvSpPr/>
          <p:nvPr userDrawn="1"/>
        </p:nvSpPr>
        <p:spPr>
          <a:xfrm>
            <a:off x="602166" y="2965647"/>
            <a:ext cx="2810107" cy="1269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0A5D69-01C4-CFA2-AF18-C3597AE2F3D1}"/>
              </a:ext>
            </a:extLst>
          </p:cNvPr>
          <p:cNvSpPr/>
          <p:nvPr userDrawn="1"/>
        </p:nvSpPr>
        <p:spPr>
          <a:xfrm>
            <a:off x="4443541" y="2992476"/>
            <a:ext cx="2765721" cy="41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C09ECC-2CF2-B257-1B83-D3437D32BDE5}"/>
              </a:ext>
            </a:extLst>
          </p:cNvPr>
          <p:cNvSpPr/>
          <p:nvPr userDrawn="1"/>
        </p:nvSpPr>
        <p:spPr>
          <a:xfrm>
            <a:off x="7165989" y="2965647"/>
            <a:ext cx="807134" cy="677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A2D2BE-6503-B6D9-6952-430F0E58E6BD}"/>
              </a:ext>
            </a:extLst>
          </p:cNvPr>
          <p:cNvSpPr/>
          <p:nvPr userDrawn="1"/>
        </p:nvSpPr>
        <p:spPr>
          <a:xfrm>
            <a:off x="4902291" y="4229063"/>
            <a:ext cx="2881260" cy="34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3287FDE-01C7-FEAB-E111-E965D7D18354}"/>
              </a:ext>
            </a:extLst>
          </p:cNvPr>
          <p:cNvSpPr/>
          <p:nvPr userDrawn="1"/>
        </p:nvSpPr>
        <p:spPr>
          <a:xfrm>
            <a:off x="602167" y="5079380"/>
            <a:ext cx="2685584" cy="5519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0B358B6-3B91-D960-26AF-7175075D4C01}"/>
              </a:ext>
            </a:extLst>
          </p:cNvPr>
          <p:cNvSpPr/>
          <p:nvPr userDrawn="1"/>
        </p:nvSpPr>
        <p:spPr>
          <a:xfrm>
            <a:off x="7904178" y="1523521"/>
            <a:ext cx="1301960" cy="842468"/>
          </a:xfrm>
          <a:prstGeom prst="roundRect">
            <a:avLst/>
          </a:prstGeom>
          <a:solidFill>
            <a:srgbClr val="FCF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34D5F-8194-67B9-5B46-480EA3ECF2A5}"/>
              </a:ext>
            </a:extLst>
          </p:cNvPr>
          <p:cNvSpPr txBox="1"/>
          <p:nvPr userDrawn="1"/>
        </p:nvSpPr>
        <p:spPr>
          <a:xfrm>
            <a:off x="4972305" y="4719988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당근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0378C4D-3824-8D14-4120-072641E3319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825254" y="4942554"/>
            <a:ext cx="4414612" cy="1520577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1F4B8AA8-1D64-5A35-83CE-BE4BD97C4BAE}"/>
              </a:ext>
            </a:extLst>
          </p:cNvPr>
          <p:cNvSpPr/>
          <p:nvPr userDrawn="1"/>
        </p:nvSpPr>
        <p:spPr>
          <a:xfrm>
            <a:off x="4941458" y="5031701"/>
            <a:ext cx="4157275" cy="1390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7EDFEEA-8E13-659E-DC24-CA89D3A6549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281587" y="5623393"/>
            <a:ext cx="758104" cy="16667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F96F806-BF8C-1E59-A6F2-40D54B2AEF8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21547" y="6197583"/>
            <a:ext cx="576765" cy="1906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73F31AF-2DCA-CB39-6243-6B602899EEEE}"/>
              </a:ext>
            </a:extLst>
          </p:cNvPr>
          <p:cNvSpPr/>
          <p:nvPr userDrawn="1"/>
        </p:nvSpPr>
        <p:spPr>
          <a:xfrm>
            <a:off x="5546221" y="2068553"/>
            <a:ext cx="879979" cy="161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26FE8-604A-0E5A-CD68-EBD2FFAFDC89}"/>
              </a:ext>
            </a:extLst>
          </p:cNvPr>
          <p:cNvSpPr txBox="1"/>
          <p:nvPr userDrawn="1"/>
        </p:nvSpPr>
        <p:spPr>
          <a:xfrm>
            <a:off x="5141377" y="1154415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비즈보드 </a:t>
            </a:r>
            <a:r>
              <a:rPr lang="en-US" altLang="ko-KR" sz="900"/>
              <a:t>/ </a:t>
            </a:r>
            <a:r>
              <a:rPr lang="ko-KR" altLang="en-US" sz="900"/>
              <a:t>스마트채널 네트워크형</a:t>
            </a:r>
          </a:p>
        </p:txBody>
      </p:sp>
    </p:spTree>
    <p:extLst>
      <p:ext uri="{BB962C8B-B14F-4D97-AF65-F5344CB8AC3E}">
        <p14:creationId xmlns:p14="http://schemas.microsoft.com/office/powerpoint/2010/main" val="107047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857852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17927-605D-48AF-5D0B-673D2A3F8E1B}"/>
              </a:ext>
            </a:extLst>
          </p:cNvPr>
          <p:cNvSpPr txBox="1"/>
          <p:nvPr userDrawn="1"/>
        </p:nvSpPr>
        <p:spPr>
          <a:xfrm>
            <a:off x="5005068" y="5973268"/>
            <a:ext cx="3121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사이즈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13632" y="469792"/>
            <a:ext cx="9478735" cy="5344655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046093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900"/>
              <a:t>모바일 웹 </a:t>
            </a:r>
            <a:r>
              <a:rPr lang="en-US" altLang="ko-KR" sz="900"/>
              <a:t>/ </a:t>
            </a:r>
            <a:r>
              <a:rPr lang="ko-KR" altLang="en-US" sz="900"/>
              <a:t>모바일 앱 </a:t>
            </a:r>
            <a:r>
              <a:rPr lang="en-US" altLang="ko-KR" sz="900"/>
              <a:t>/ PC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225220"/>
            <a:ext cx="16337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467726"/>
            <a:ext cx="4414612" cy="29815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/>
              <a:t>카카오</a:t>
            </a:r>
            <a:r>
              <a:rPr lang="en-US" altLang="ko-KR"/>
              <a:t>/</a:t>
            </a:r>
            <a:r>
              <a:rPr lang="ko-KR" altLang="en-US"/>
              <a:t>네이버</a:t>
            </a:r>
            <a:r>
              <a:rPr lang="en-US" altLang="ko-KR"/>
              <a:t>/</a:t>
            </a:r>
            <a:r>
              <a:rPr lang="ko-KR" altLang="en-US"/>
              <a:t>토스 등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65093A6-119E-1871-E4C9-2C9BC85338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430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26" name="Picture 2" descr="소재 이미지">
            <a:extLst>
              <a:ext uri="{FF2B5EF4-FFF2-40B4-BE49-F238E27FC236}">
                <a16:creationId xmlns:a16="http://schemas.microsoft.com/office/drawing/2014/main" id="{FFAF78C6-C8EC-BEF0-1E1B-0CDD670D5B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ACD59D-F479-4487-16FE-A1EDE330E3B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52974" y="2838697"/>
            <a:ext cx="3516723" cy="1872951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C2292341-84DB-7579-ED70-9D9F0BE41D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5067756"/>
            <a:ext cx="3426562" cy="601855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92F48A-B73E-9C86-B15F-D4CCF896AE8D}"/>
              </a:ext>
            </a:extLst>
          </p:cNvPr>
          <p:cNvSpPr txBox="1"/>
          <p:nvPr userDrawn="1"/>
        </p:nvSpPr>
        <p:spPr>
          <a:xfrm>
            <a:off x="543136" y="1154415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비즈보드 </a:t>
            </a:r>
            <a:r>
              <a:rPr lang="en-US" altLang="ko-KR" sz="900"/>
              <a:t>/ </a:t>
            </a:r>
            <a:r>
              <a:rPr lang="ko-KR" altLang="en-US" sz="900"/>
              <a:t>스마트채널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92600-E14F-2A3C-AEEE-A14D794402F7}"/>
              </a:ext>
            </a:extLst>
          </p:cNvPr>
          <p:cNvSpPr txBox="1"/>
          <p:nvPr userDrawn="1"/>
        </p:nvSpPr>
        <p:spPr>
          <a:xfrm>
            <a:off x="543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네이티브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62586-A807-AE09-E230-7336ADF45CF2}"/>
              </a:ext>
            </a:extLst>
          </p:cNvPr>
          <p:cNvSpPr txBox="1"/>
          <p:nvPr userDrawn="1"/>
        </p:nvSpPr>
        <p:spPr>
          <a:xfrm>
            <a:off x="4419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커뮤니케이션애드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F7354-2615-1FF9-0FD8-FD69EE951BFA}"/>
              </a:ext>
            </a:extLst>
          </p:cNvPr>
          <p:cNvSpPr txBox="1"/>
          <p:nvPr userDrawn="1"/>
        </p:nvSpPr>
        <p:spPr>
          <a:xfrm>
            <a:off x="549066" y="4836924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토스 혜택탭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4E719AF-1225-B795-E2BD-3D4C7C011A4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57953" y="2904265"/>
            <a:ext cx="3723730" cy="8255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45291D3-60B8-7E28-FC3C-ED02E78ACD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b="27576"/>
          <a:stretch/>
        </p:blipFill>
        <p:spPr>
          <a:xfrm>
            <a:off x="4357952" y="3802523"/>
            <a:ext cx="3723730" cy="8026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D02B22DC-55FB-3A40-1A9D-964D5C659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958" y="5053269"/>
            <a:ext cx="3426562" cy="601855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7BA8FE7-B401-8A30-C136-70BE368689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t="49370"/>
          <a:stretch/>
        </p:blipFill>
        <p:spPr>
          <a:xfrm>
            <a:off x="5089805" y="5346576"/>
            <a:ext cx="1692998" cy="255389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B3B4D5-14B4-4F12-082E-02E59FA9645E}"/>
              </a:ext>
            </a:extLst>
          </p:cNvPr>
          <p:cNvSpPr/>
          <p:nvPr userDrawn="1"/>
        </p:nvSpPr>
        <p:spPr>
          <a:xfrm>
            <a:off x="3487873" y="0"/>
            <a:ext cx="1127303" cy="14354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0E00154-B667-3EB8-C196-C6B6A0C33993}"/>
              </a:ext>
            </a:extLst>
          </p:cNvPr>
          <p:cNvSpPr/>
          <p:nvPr userDrawn="1"/>
        </p:nvSpPr>
        <p:spPr>
          <a:xfrm>
            <a:off x="1" y="1435837"/>
            <a:ext cx="3206042" cy="1485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A9CAFB-9A83-2DFE-409D-4659A299E448}"/>
              </a:ext>
            </a:extLst>
          </p:cNvPr>
          <p:cNvSpPr/>
          <p:nvPr userDrawn="1"/>
        </p:nvSpPr>
        <p:spPr>
          <a:xfrm flipV="1">
            <a:off x="1" y="1828978"/>
            <a:ext cx="681643" cy="654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FE2FE5C-630F-63F7-0930-050A1022F1E4}"/>
              </a:ext>
            </a:extLst>
          </p:cNvPr>
          <p:cNvSpPr/>
          <p:nvPr userDrawn="1"/>
        </p:nvSpPr>
        <p:spPr>
          <a:xfrm flipV="1">
            <a:off x="-11656" y="3621542"/>
            <a:ext cx="693300" cy="1141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FC53EC-1513-CB8E-68CF-8FAB8BB6B5D2}"/>
              </a:ext>
            </a:extLst>
          </p:cNvPr>
          <p:cNvSpPr/>
          <p:nvPr userDrawn="1"/>
        </p:nvSpPr>
        <p:spPr>
          <a:xfrm flipV="1">
            <a:off x="-11656" y="3058350"/>
            <a:ext cx="638452" cy="105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3C7C50F-1FF6-6732-0D2A-CF819F228DF3}"/>
              </a:ext>
            </a:extLst>
          </p:cNvPr>
          <p:cNvSpPr/>
          <p:nvPr userDrawn="1"/>
        </p:nvSpPr>
        <p:spPr>
          <a:xfrm flipV="1">
            <a:off x="2933277" y="-1"/>
            <a:ext cx="135879" cy="3429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1916538-8053-4C2F-3336-ECFAD9A63EB3}"/>
              </a:ext>
            </a:extLst>
          </p:cNvPr>
          <p:cNvSpPr/>
          <p:nvPr userDrawn="1"/>
        </p:nvSpPr>
        <p:spPr>
          <a:xfrm flipV="1">
            <a:off x="1602483" y="-2"/>
            <a:ext cx="151502" cy="2975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CABC6C-B309-AC7C-3CE8-366AFC4CA279}"/>
              </a:ext>
            </a:extLst>
          </p:cNvPr>
          <p:cNvSpPr/>
          <p:nvPr userDrawn="1"/>
        </p:nvSpPr>
        <p:spPr>
          <a:xfrm flipV="1">
            <a:off x="1860935" y="-4"/>
            <a:ext cx="166341" cy="3258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DB83589-A6B6-1AA4-B31E-A8C316A512B7}"/>
              </a:ext>
            </a:extLst>
          </p:cNvPr>
          <p:cNvSpPr/>
          <p:nvPr userDrawn="1"/>
        </p:nvSpPr>
        <p:spPr>
          <a:xfrm flipV="1">
            <a:off x="2424043" y="-9"/>
            <a:ext cx="190918" cy="51630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8EF0A6E-1F86-F4D6-29F6-79F65C30E4DE}"/>
              </a:ext>
            </a:extLst>
          </p:cNvPr>
          <p:cNvSpPr/>
          <p:nvPr userDrawn="1"/>
        </p:nvSpPr>
        <p:spPr>
          <a:xfrm flipV="1">
            <a:off x="-11657" y="5219360"/>
            <a:ext cx="673881" cy="49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5E2C047-6538-3CF4-0392-2061832ABEBE}"/>
              </a:ext>
            </a:extLst>
          </p:cNvPr>
          <p:cNvSpPr/>
          <p:nvPr userDrawn="1"/>
        </p:nvSpPr>
        <p:spPr>
          <a:xfrm flipV="1">
            <a:off x="1869013" y="-8"/>
            <a:ext cx="166341" cy="5346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18B851-65A8-8794-5857-1BFF2BD71DF3}"/>
              </a:ext>
            </a:extLst>
          </p:cNvPr>
          <p:cNvSpPr/>
          <p:nvPr userDrawn="1"/>
        </p:nvSpPr>
        <p:spPr>
          <a:xfrm flipV="1">
            <a:off x="862392" y="-9"/>
            <a:ext cx="161580" cy="5157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EABE25-031A-7697-44D5-25C73EE59B1C}"/>
              </a:ext>
            </a:extLst>
          </p:cNvPr>
          <p:cNvSpPr/>
          <p:nvPr userDrawn="1"/>
        </p:nvSpPr>
        <p:spPr>
          <a:xfrm flipV="1">
            <a:off x="-11656" y="5422137"/>
            <a:ext cx="4369608" cy="9372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D468CA4-9E7F-9016-9CD0-948900DF2CB6}"/>
              </a:ext>
            </a:extLst>
          </p:cNvPr>
          <p:cNvSpPr/>
          <p:nvPr userDrawn="1"/>
        </p:nvSpPr>
        <p:spPr>
          <a:xfrm flipV="1">
            <a:off x="8277570" y="-9"/>
            <a:ext cx="135879" cy="15843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4EC48E3-67E7-39B0-E88E-8C5D7A8EA28C}"/>
              </a:ext>
            </a:extLst>
          </p:cNvPr>
          <p:cNvSpPr/>
          <p:nvPr userDrawn="1"/>
        </p:nvSpPr>
        <p:spPr>
          <a:xfrm flipV="1">
            <a:off x="7572495" y="-1"/>
            <a:ext cx="124357" cy="297839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0FFFF71-D3DF-7FC0-34C6-8E9B1B0FFA8A}"/>
              </a:ext>
            </a:extLst>
          </p:cNvPr>
          <p:cNvSpPr/>
          <p:nvPr userDrawn="1"/>
        </p:nvSpPr>
        <p:spPr>
          <a:xfrm flipV="1">
            <a:off x="6314177" y="-1"/>
            <a:ext cx="147547" cy="42062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11247D1-97F2-F70A-2424-F9A2BA8D3CDB}"/>
              </a:ext>
            </a:extLst>
          </p:cNvPr>
          <p:cNvSpPr/>
          <p:nvPr userDrawn="1"/>
        </p:nvSpPr>
        <p:spPr>
          <a:xfrm flipV="1">
            <a:off x="5675246" y="-8"/>
            <a:ext cx="208665" cy="5123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CB7ED559-7673-B050-0D8D-B3C69CFC9898}"/>
              </a:ext>
            </a:extLst>
          </p:cNvPr>
          <p:cNvSpPr/>
          <p:nvPr userDrawn="1"/>
        </p:nvSpPr>
        <p:spPr>
          <a:xfrm flipV="1">
            <a:off x="-11656" y="1926375"/>
            <a:ext cx="5293341" cy="909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B215E7D5-91A8-7436-632C-1CCC7206A0FE}"/>
              </a:ext>
            </a:extLst>
          </p:cNvPr>
          <p:cNvSpPr/>
          <p:nvPr userDrawn="1"/>
        </p:nvSpPr>
        <p:spPr>
          <a:xfrm flipV="1">
            <a:off x="7072212" y="-8"/>
            <a:ext cx="147547" cy="1771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F0EFE58F-2C4B-A973-C991-FF0534BDAEDA}"/>
              </a:ext>
            </a:extLst>
          </p:cNvPr>
          <p:cNvSpPr/>
          <p:nvPr userDrawn="1"/>
        </p:nvSpPr>
        <p:spPr>
          <a:xfrm flipV="1">
            <a:off x="1" y="2105089"/>
            <a:ext cx="681643" cy="654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CA1A85BC-04C8-259A-C846-3A42FEAA72EB}"/>
              </a:ext>
            </a:extLst>
          </p:cNvPr>
          <p:cNvSpPr/>
          <p:nvPr userDrawn="1"/>
        </p:nvSpPr>
        <p:spPr>
          <a:xfrm>
            <a:off x="1237574" y="0"/>
            <a:ext cx="45719" cy="1789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76ABC0AC-B6D1-7BE8-67BD-B16F5295CD0D}"/>
              </a:ext>
            </a:extLst>
          </p:cNvPr>
          <p:cNvSpPr/>
          <p:nvPr userDrawn="1"/>
        </p:nvSpPr>
        <p:spPr>
          <a:xfrm>
            <a:off x="1454444" y="1"/>
            <a:ext cx="46696" cy="2065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59485090-E0AD-9095-B70B-FC20FF6AC439}"/>
              </a:ext>
            </a:extLst>
          </p:cNvPr>
          <p:cNvSpPr/>
          <p:nvPr userDrawn="1"/>
        </p:nvSpPr>
        <p:spPr>
          <a:xfrm flipV="1">
            <a:off x="6666025" y="-1"/>
            <a:ext cx="124357" cy="297839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818ADC88-CE15-4CC3-8CAD-C47405359162}"/>
              </a:ext>
            </a:extLst>
          </p:cNvPr>
          <p:cNvSpPr/>
          <p:nvPr userDrawn="1"/>
        </p:nvSpPr>
        <p:spPr>
          <a:xfrm>
            <a:off x="3254048" y="1404205"/>
            <a:ext cx="1440170" cy="105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1F0CF4-B251-6CF3-7CAF-25F03BAB9C60}"/>
              </a:ext>
            </a:extLst>
          </p:cNvPr>
          <p:cNvSpPr/>
          <p:nvPr userDrawn="1"/>
        </p:nvSpPr>
        <p:spPr>
          <a:xfrm>
            <a:off x="-11655" y="1994673"/>
            <a:ext cx="7979202" cy="98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FAEC1C-2CAC-1134-0D0C-3A5CF58BF781}"/>
              </a:ext>
            </a:extLst>
          </p:cNvPr>
          <p:cNvSpPr/>
          <p:nvPr userDrawn="1"/>
        </p:nvSpPr>
        <p:spPr>
          <a:xfrm>
            <a:off x="-11657" y="3831928"/>
            <a:ext cx="2171837" cy="115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3862B-4ABC-E334-97CC-B8BDE2E84F39}"/>
              </a:ext>
            </a:extLst>
          </p:cNvPr>
          <p:cNvSpPr/>
          <p:nvPr userDrawn="1"/>
        </p:nvSpPr>
        <p:spPr>
          <a:xfrm>
            <a:off x="2685865" y="3436688"/>
            <a:ext cx="176544" cy="182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FBE2DB-AA54-3F49-DE90-6E9F67902CEC}"/>
              </a:ext>
            </a:extLst>
          </p:cNvPr>
          <p:cNvSpPr/>
          <p:nvPr userDrawn="1"/>
        </p:nvSpPr>
        <p:spPr>
          <a:xfrm>
            <a:off x="1232773" y="3034575"/>
            <a:ext cx="176544" cy="182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70B211-177B-B6A4-8FFD-5BF0FD372FF0}"/>
              </a:ext>
            </a:extLst>
          </p:cNvPr>
          <p:cNvSpPr/>
          <p:nvPr userDrawn="1"/>
        </p:nvSpPr>
        <p:spPr>
          <a:xfrm>
            <a:off x="669969" y="3246704"/>
            <a:ext cx="1402507" cy="943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7AB78F-575B-2B5F-E9EB-18B005DB84AE}"/>
              </a:ext>
            </a:extLst>
          </p:cNvPr>
          <p:cNvSpPr/>
          <p:nvPr userDrawn="1"/>
        </p:nvSpPr>
        <p:spPr>
          <a:xfrm flipV="1">
            <a:off x="1268196" y="-3"/>
            <a:ext cx="100970" cy="3229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C50D88C-873B-8BB3-9281-9D63F2D3D2F3}"/>
              </a:ext>
            </a:extLst>
          </p:cNvPr>
          <p:cNvSpPr/>
          <p:nvPr userDrawn="1"/>
        </p:nvSpPr>
        <p:spPr>
          <a:xfrm flipH="1" flipV="1">
            <a:off x="-11660" y="3275223"/>
            <a:ext cx="4498604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E43F12-44B3-F6DB-F091-1C88BAD59273}"/>
              </a:ext>
            </a:extLst>
          </p:cNvPr>
          <p:cNvSpPr/>
          <p:nvPr userDrawn="1"/>
        </p:nvSpPr>
        <p:spPr>
          <a:xfrm flipH="1" flipV="1">
            <a:off x="-11660" y="3174376"/>
            <a:ext cx="7276680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CE255F7-4EDA-1D11-A495-23CA50344D4D}"/>
              </a:ext>
            </a:extLst>
          </p:cNvPr>
          <p:cNvSpPr/>
          <p:nvPr userDrawn="1"/>
        </p:nvSpPr>
        <p:spPr>
          <a:xfrm>
            <a:off x="7275871" y="3000147"/>
            <a:ext cx="637910" cy="619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89D4C05-7BB6-8256-0559-373756CB8EED}"/>
              </a:ext>
            </a:extLst>
          </p:cNvPr>
          <p:cNvSpPr/>
          <p:nvPr userDrawn="1"/>
        </p:nvSpPr>
        <p:spPr>
          <a:xfrm flipH="1" flipV="1">
            <a:off x="-11660" y="4345728"/>
            <a:ext cx="4964660" cy="8176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F85B1E9-C74F-6153-CE1B-D0D1F6C4E681}"/>
              </a:ext>
            </a:extLst>
          </p:cNvPr>
          <p:cNvSpPr/>
          <p:nvPr userDrawn="1"/>
        </p:nvSpPr>
        <p:spPr>
          <a:xfrm>
            <a:off x="662225" y="5157947"/>
            <a:ext cx="474935" cy="457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43ED9BC-F05D-C35D-5C98-748DFBFA6AFC}"/>
              </a:ext>
            </a:extLst>
          </p:cNvPr>
          <p:cNvSpPr/>
          <p:nvPr userDrawn="1"/>
        </p:nvSpPr>
        <p:spPr>
          <a:xfrm flipV="1">
            <a:off x="-11657" y="5312360"/>
            <a:ext cx="1294950" cy="45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85F2C6-4632-6F4C-E355-1DBE0FFD0B83}"/>
              </a:ext>
            </a:extLst>
          </p:cNvPr>
          <p:cNvSpPr/>
          <p:nvPr userDrawn="1"/>
        </p:nvSpPr>
        <p:spPr>
          <a:xfrm flipV="1">
            <a:off x="-11657" y="5672877"/>
            <a:ext cx="5101461" cy="607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28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563177C-1C5E-BCAE-6F79-851E6866B11D}"/>
              </a:ext>
            </a:extLst>
          </p:cNvPr>
          <p:cNvSpPr/>
          <p:nvPr userDrawn="1"/>
        </p:nvSpPr>
        <p:spPr>
          <a:xfrm>
            <a:off x="337452" y="804449"/>
            <a:ext cx="2317240" cy="170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A7477-F5E4-6803-4F98-23DB5C6F038E}"/>
              </a:ext>
            </a:extLst>
          </p:cNvPr>
          <p:cNvSpPr txBox="1"/>
          <p:nvPr userDrawn="1"/>
        </p:nvSpPr>
        <p:spPr>
          <a:xfrm>
            <a:off x="147411" y="2748885"/>
            <a:ext cx="2513692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한국금융투자 협회 </a:t>
            </a:r>
            <a:r>
              <a:rPr lang="ko-KR" altLang="en-US" sz="7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심사필</a:t>
            </a: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제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24-OOOOO</a:t>
            </a:r>
            <a:r>
              <a:rPr lang="ko-KR" altLang="en-US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호 </a:t>
            </a:r>
            <a:endParaRPr lang="en-US" altLang="ko-KR" sz="70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2024-OO-OO ~ 2025-OO-OO) </a:t>
            </a:r>
          </a:p>
          <a:p>
            <a:pPr>
              <a:lnSpc>
                <a:spcPct val="140000"/>
              </a:lnSpc>
            </a:pP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삼성증권 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준법감시인 </a:t>
            </a:r>
            <a:r>
              <a:rPr lang="ko-KR" altLang="en-US" sz="7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심사필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제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24-BOOOO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호</a:t>
            </a:r>
            <a:endParaRPr lang="en-US" altLang="ko-KR" sz="7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2024.OO.OO ~ 2025.OO.OO)</a:t>
            </a:r>
            <a:endParaRPr lang="ko-KR" altLang="en-US" sz="7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2F65F-09FD-807F-473D-DE4F7E0E3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3134"/>
          <a:stretch/>
        </p:blipFill>
        <p:spPr>
          <a:xfrm>
            <a:off x="289546" y="43278"/>
            <a:ext cx="2413053" cy="3761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FAA8D9-8300-8009-2F06-4D28380BE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8001" b="-1875"/>
          <a:stretch/>
        </p:blipFill>
        <p:spPr>
          <a:xfrm>
            <a:off x="243277" y="3370812"/>
            <a:ext cx="2413053" cy="349965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42B701A-1441-3904-0840-B0B5F7CD9060}"/>
              </a:ext>
            </a:extLst>
          </p:cNvPr>
          <p:cNvSpPr/>
          <p:nvPr userDrawn="1"/>
        </p:nvSpPr>
        <p:spPr>
          <a:xfrm>
            <a:off x="243277" y="6003673"/>
            <a:ext cx="2332372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6EBC34-45DA-8E5B-F1D1-5ABA84C00019}"/>
              </a:ext>
            </a:extLst>
          </p:cNvPr>
          <p:cNvSpPr/>
          <p:nvPr userDrawn="1"/>
        </p:nvSpPr>
        <p:spPr>
          <a:xfrm>
            <a:off x="1731255" y="5866131"/>
            <a:ext cx="844394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454862-F054-D3BA-B463-F9E48D703B0F}"/>
              </a:ext>
            </a:extLst>
          </p:cNvPr>
          <p:cNvSpPr/>
          <p:nvPr userDrawn="1"/>
        </p:nvSpPr>
        <p:spPr>
          <a:xfrm>
            <a:off x="2905006" y="804449"/>
            <a:ext cx="2317240" cy="170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6BCED1-FD49-E8B9-E2B8-E9CD429958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3134"/>
          <a:stretch/>
        </p:blipFill>
        <p:spPr>
          <a:xfrm>
            <a:off x="2857100" y="43278"/>
            <a:ext cx="2413053" cy="3761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765DC0-6429-AFE4-AD8C-3693D4D51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8001" b="-1875"/>
          <a:stretch/>
        </p:blipFill>
        <p:spPr>
          <a:xfrm>
            <a:off x="2810831" y="3370812"/>
            <a:ext cx="2413053" cy="34996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8BDB81-2AA5-587B-01A3-9E982797A0A0}"/>
              </a:ext>
            </a:extLst>
          </p:cNvPr>
          <p:cNvSpPr/>
          <p:nvPr userDrawn="1"/>
        </p:nvSpPr>
        <p:spPr>
          <a:xfrm>
            <a:off x="2810831" y="6003673"/>
            <a:ext cx="2332372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18F5FB-E4D1-000A-5B9B-0B24C2909496}"/>
              </a:ext>
            </a:extLst>
          </p:cNvPr>
          <p:cNvSpPr/>
          <p:nvPr userDrawn="1"/>
        </p:nvSpPr>
        <p:spPr>
          <a:xfrm>
            <a:off x="4298809" y="5866131"/>
            <a:ext cx="844394" cy="374073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CA7CF72-A46B-FA05-BA78-66E0F1C43E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144" y="13750"/>
            <a:ext cx="2151761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 descr="클립아트, 스케치, 곰, 그림이(가) 표시된 사진&#10;&#10;자동 생성된 설명">
            <a:extLst>
              <a:ext uri="{FF2B5EF4-FFF2-40B4-BE49-F238E27FC236}">
                <a16:creationId xmlns:a16="http://schemas.microsoft.com/office/drawing/2014/main" id="{A2C48356-8277-9593-078A-26FEF52CA6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007" y="152418"/>
            <a:ext cx="1985428" cy="198542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60742D-1067-05FA-D375-064EA1782806}"/>
              </a:ext>
            </a:extLst>
          </p:cNvPr>
          <p:cNvSpPr/>
          <p:nvPr userDrawn="1"/>
        </p:nvSpPr>
        <p:spPr>
          <a:xfrm>
            <a:off x="5378385" y="12465"/>
            <a:ext cx="2061556" cy="2992582"/>
          </a:xfrm>
          <a:prstGeom prst="rect">
            <a:avLst/>
          </a:prstGeom>
          <a:solidFill>
            <a:srgbClr val="12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874BF9-D66A-9DA1-D43C-D6B558EEDD0E}"/>
              </a:ext>
            </a:extLst>
          </p:cNvPr>
          <p:cNvSpPr/>
          <p:nvPr userDrawn="1"/>
        </p:nvSpPr>
        <p:spPr>
          <a:xfrm>
            <a:off x="6093228" y="3309517"/>
            <a:ext cx="665018" cy="19429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792A51-9F17-A93E-A4BB-5AEA07895531}"/>
              </a:ext>
            </a:extLst>
          </p:cNvPr>
          <p:cNvSpPr/>
          <p:nvPr userDrawn="1"/>
        </p:nvSpPr>
        <p:spPr>
          <a:xfrm>
            <a:off x="5894259" y="3284407"/>
            <a:ext cx="1101992" cy="219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457200" rtl="0" eaLnBrk="1" latinLnBrk="0" hangingPunct="1">
              <a:lnSpc>
                <a:spcPct val="140000"/>
              </a:lnSpc>
            </a:pPr>
            <a:r>
              <a:rPr lang="ko-KR" altLang="en-US" sz="9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자세히 알아보기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26277F50-D746-A3E7-CAA2-142F890801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633" y="13750"/>
            <a:ext cx="2151761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그림 27" descr="클립아트, 스케치, 곰, 그림이(가) 표시된 사진&#10;&#10;자동 생성된 설명">
            <a:extLst>
              <a:ext uri="{FF2B5EF4-FFF2-40B4-BE49-F238E27FC236}">
                <a16:creationId xmlns:a16="http://schemas.microsoft.com/office/drawing/2014/main" id="{8E27E179-4BF6-8335-2EA4-9C7EA61807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96" y="152418"/>
            <a:ext cx="1985428" cy="1985428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F81A73-73ED-35D7-C346-58B5F0AF224D}"/>
              </a:ext>
            </a:extLst>
          </p:cNvPr>
          <p:cNvSpPr/>
          <p:nvPr userDrawn="1"/>
        </p:nvSpPr>
        <p:spPr>
          <a:xfrm>
            <a:off x="7679874" y="12465"/>
            <a:ext cx="2061556" cy="2992582"/>
          </a:xfrm>
          <a:prstGeom prst="rect">
            <a:avLst/>
          </a:prstGeom>
          <a:solidFill>
            <a:srgbClr val="12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8F63D4-1C93-6410-C252-36428BA20B4B}"/>
              </a:ext>
            </a:extLst>
          </p:cNvPr>
          <p:cNvSpPr/>
          <p:nvPr userDrawn="1"/>
        </p:nvSpPr>
        <p:spPr>
          <a:xfrm>
            <a:off x="8394717" y="3309517"/>
            <a:ext cx="665018" cy="19429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CD48FF-A427-5582-78E7-D29E895FDF61}"/>
              </a:ext>
            </a:extLst>
          </p:cNvPr>
          <p:cNvSpPr/>
          <p:nvPr userDrawn="1"/>
        </p:nvSpPr>
        <p:spPr>
          <a:xfrm>
            <a:off x="8195748" y="3284407"/>
            <a:ext cx="1101992" cy="219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457200" rtl="0" eaLnBrk="1" latinLnBrk="0" hangingPunct="1">
              <a:lnSpc>
                <a:spcPct val="140000"/>
              </a:lnSpc>
            </a:pPr>
            <a:r>
              <a:rPr lang="ko-KR" altLang="en-US" sz="9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자세히 알아보기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F800DF-B087-F89A-0EF6-9A47863217F2}"/>
              </a:ext>
            </a:extLst>
          </p:cNvPr>
          <p:cNvSpPr txBox="1"/>
          <p:nvPr userDrawn="1"/>
        </p:nvSpPr>
        <p:spPr>
          <a:xfrm>
            <a:off x="2735072" y="2748885"/>
            <a:ext cx="2513692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한국금융투자 협회 </a:t>
            </a:r>
            <a:r>
              <a:rPr lang="ko-KR" altLang="en-US" sz="7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심사필</a:t>
            </a:r>
            <a:r>
              <a:rPr lang="ko-KR" altLang="en-US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제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24-OOOOO</a:t>
            </a:r>
            <a:r>
              <a:rPr lang="ko-KR" altLang="en-US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호 </a:t>
            </a:r>
            <a:endParaRPr lang="en-US" altLang="ko-KR" sz="70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2024-OO-OO ~ 2025-OO-OO) </a:t>
            </a:r>
          </a:p>
          <a:p>
            <a:pPr>
              <a:lnSpc>
                <a:spcPct val="140000"/>
              </a:lnSpc>
            </a:pP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삼성증권 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준법감시인 </a:t>
            </a:r>
            <a:r>
              <a:rPr lang="ko-KR" altLang="en-US" sz="7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심사필</a:t>
            </a:r>
            <a:r>
              <a:rPr lang="ko-KR" altLang="en-US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제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24-BOOOO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호</a:t>
            </a:r>
            <a:endParaRPr lang="en-US" altLang="ko-KR" sz="7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ko-KR" sz="7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sz="7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2024.OO.OO ~ 2025.OO.OO)</a:t>
            </a:r>
            <a:endParaRPr lang="ko-KR" altLang="en-US" sz="7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9E5A8E-C0ED-3B3E-AD25-52580995E8E6}"/>
              </a:ext>
            </a:extLst>
          </p:cNvPr>
          <p:cNvSpPr/>
          <p:nvPr userDrawn="1"/>
        </p:nvSpPr>
        <p:spPr>
          <a:xfrm>
            <a:off x="931025" y="12466"/>
            <a:ext cx="174568" cy="4677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BE6469-9E3E-8365-6F50-22FD4F823417}"/>
              </a:ext>
            </a:extLst>
          </p:cNvPr>
          <p:cNvSpPr/>
          <p:nvPr userDrawn="1"/>
        </p:nvSpPr>
        <p:spPr>
          <a:xfrm>
            <a:off x="0" y="872835"/>
            <a:ext cx="229076" cy="283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243F9-DAB8-2C79-D7FE-C5E33644E6AE}"/>
              </a:ext>
            </a:extLst>
          </p:cNvPr>
          <p:cNvSpPr/>
          <p:nvPr userDrawn="1"/>
        </p:nvSpPr>
        <p:spPr>
          <a:xfrm>
            <a:off x="229077" y="480254"/>
            <a:ext cx="2346572" cy="1069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0A5A36-0142-422A-606F-E8927F3B97DA}"/>
              </a:ext>
            </a:extLst>
          </p:cNvPr>
          <p:cNvSpPr/>
          <p:nvPr userDrawn="1"/>
        </p:nvSpPr>
        <p:spPr>
          <a:xfrm>
            <a:off x="0" y="1549776"/>
            <a:ext cx="2810831" cy="283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023ECC-5572-6964-CD7C-50A9629223A8}"/>
              </a:ext>
            </a:extLst>
          </p:cNvPr>
          <p:cNvSpPr/>
          <p:nvPr userDrawn="1"/>
        </p:nvSpPr>
        <p:spPr>
          <a:xfrm>
            <a:off x="2798108" y="480254"/>
            <a:ext cx="2346572" cy="2268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EC2969-78E7-5DD5-558E-F0D5D60752B5}"/>
              </a:ext>
            </a:extLst>
          </p:cNvPr>
          <p:cNvSpPr/>
          <p:nvPr userDrawn="1"/>
        </p:nvSpPr>
        <p:spPr>
          <a:xfrm>
            <a:off x="1910688" y="12465"/>
            <a:ext cx="174568" cy="599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4824AE-C51F-8811-85A1-45E90747336B}"/>
              </a:ext>
            </a:extLst>
          </p:cNvPr>
          <p:cNvSpPr/>
          <p:nvPr userDrawn="1"/>
        </p:nvSpPr>
        <p:spPr>
          <a:xfrm>
            <a:off x="1237995" y="12465"/>
            <a:ext cx="174568" cy="34145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B054CF-1FCB-EDC6-A47C-D13E80532ECF}"/>
              </a:ext>
            </a:extLst>
          </p:cNvPr>
          <p:cNvSpPr/>
          <p:nvPr userDrawn="1"/>
        </p:nvSpPr>
        <p:spPr>
          <a:xfrm>
            <a:off x="4228759" y="12465"/>
            <a:ext cx="174568" cy="599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AAAA42-D227-68A6-0718-57D1E5564264}"/>
              </a:ext>
            </a:extLst>
          </p:cNvPr>
          <p:cNvSpPr/>
          <p:nvPr userDrawn="1"/>
        </p:nvSpPr>
        <p:spPr>
          <a:xfrm>
            <a:off x="229076" y="3423005"/>
            <a:ext cx="2372807" cy="2370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D83C0E-24EC-43DD-7F6E-63F5D67BD535}"/>
              </a:ext>
            </a:extLst>
          </p:cNvPr>
          <p:cNvSpPr/>
          <p:nvPr userDrawn="1"/>
        </p:nvSpPr>
        <p:spPr>
          <a:xfrm>
            <a:off x="5645410" y="12466"/>
            <a:ext cx="116311" cy="1399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E00DA2-CA04-55C3-056D-9329F2ADB1B4}"/>
              </a:ext>
            </a:extLst>
          </p:cNvPr>
          <p:cNvSpPr/>
          <p:nvPr userDrawn="1"/>
        </p:nvSpPr>
        <p:spPr>
          <a:xfrm>
            <a:off x="-9685" y="540375"/>
            <a:ext cx="5450023" cy="283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D437D8-E863-B780-2548-C310280733BA}"/>
              </a:ext>
            </a:extLst>
          </p:cNvPr>
          <p:cNvSpPr/>
          <p:nvPr userDrawn="1"/>
        </p:nvSpPr>
        <p:spPr>
          <a:xfrm>
            <a:off x="5419882" y="135908"/>
            <a:ext cx="1945868" cy="194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E5582FF-ED7D-05A0-17F8-3C1CB990DE9D}"/>
              </a:ext>
            </a:extLst>
          </p:cNvPr>
          <p:cNvSpPr/>
          <p:nvPr userDrawn="1"/>
        </p:nvSpPr>
        <p:spPr>
          <a:xfrm>
            <a:off x="-9684" y="1278718"/>
            <a:ext cx="7730522" cy="283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980362-11BF-125D-2CC2-FBDD8EEDA3FC}"/>
              </a:ext>
            </a:extLst>
          </p:cNvPr>
          <p:cNvSpPr/>
          <p:nvPr userDrawn="1"/>
        </p:nvSpPr>
        <p:spPr>
          <a:xfrm>
            <a:off x="5844380" y="12466"/>
            <a:ext cx="74282" cy="21155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8EF4556-8C4D-810E-9BB3-AAAC88835D8E}"/>
              </a:ext>
            </a:extLst>
          </p:cNvPr>
          <p:cNvSpPr/>
          <p:nvPr userDrawn="1"/>
        </p:nvSpPr>
        <p:spPr>
          <a:xfrm>
            <a:off x="6875356" y="12466"/>
            <a:ext cx="86352" cy="27364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555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857852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17927-605D-48AF-5D0B-673D2A3F8E1B}"/>
              </a:ext>
            </a:extLst>
          </p:cNvPr>
          <p:cNvSpPr txBox="1"/>
          <p:nvPr userDrawn="1"/>
        </p:nvSpPr>
        <p:spPr>
          <a:xfrm>
            <a:off x="5005068" y="5973268"/>
            <a:ext cx="3121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사이즈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20436" y="513197"/>
            <a:ext cx="9478735" cy="5344655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046093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900"/>
              <a:t>모바일 웹 </a:t>
            </a:r>
            <a:r>
              <a:rPr lang="en-US" altLang="ko-KR" sz="900"/>
              <a:t>/ </a:t>
            </a:r>
            <a:r>
              <a:rPr lang="ko-KR" altLang="en-US" sz="900"/>
              <a:t>모바일 앱 </a:t>
            </a:r>
            <a:r>
              <a:rPr lang="en-US" altLang="ko-KR" sz="900"/>
              <a:t>/ PC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225220"/>
            <a:ext cx="16337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467726"/>
            <a:ext cx="4414612" cy="29815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 fontScale="77500" lnSpcReduction="20000"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/>
              <a:t>트레이딩웍스 </a:t>
            </a:r>
            <a:r>
              <a:rPr lang="en-US" altLang="ko-KR"/>
              <a:t>/ </a:t>
            </a:r>
            <a:r>
              <a:rPr lang="ko-KR" altLang="en-US"/>
              <a:t>크로스타겟 </a:t>
            </a:r>
            <a:r>
              <a:rPr lang="en-US" altLang="ko-KR"/>
              <a:t>/ TNK / </a:t>
            </a:r>
            <a:r>
              <a:rPr lang="ko-KR" altLang="en-US"/>
              <a:t>카울리 </a:t>
            </a:r>
            <a:r>
              <a:rPr lang="en-US" altLang="ko-KR"/>
              <a:t>/ GDN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인베스팅 </a:t>
            </a:r>
            <a:r>
              <a:rPr lang="en-US" altLang="ko-KR"/>
              <a:t>/ </a:t>
            </a:r>
            <a:r>
              <a:rPr lang="ko-KR" altLang="en-US"/>
              <a:t>네이버 </a:t>
            </a:r>
            <a:r>
              <a:rPr lang="en-US" altLang="ko-KR"/>
              <a:t>/ </a:t>
            </a:r>
            <a:r>
              <a:rPr lang="ko-KR" altLang="en-US"/>
              <a:t>카카오 </a:t>
            </a:r>
            <a:r>
              <a:rPr lang="en-US" altLang="ko-KR"/>
              <a:t>/ Meta / </a:t>
            </a:r>
            <a:r>
              <a:rPr lang="ko-KR" altLang="en-US"/>
              <a:t>구글 </a:t>
            </a:r>
            <a:r>
              <a:rPr lang="en-US" altLang="ko-KR"/>
              <a:t>/ </a:t>
            </a:r>
            <a:r>
              <a:rPr lang="ko-KR" altLang="en-US"/>
              <a:t>크리테오</a:t>
            </a:r>
            <a:r>
              <a:rPr lang="en-US" altLang="ko-KR"/>
              <a:t> / </a:t>
            </a:r>
            <a:r>
              <a:rPr lang="ko-KR" altLang="en-US"/>
              <a:t>몰로코 </a:t>
            </a:r>
            <a:r>
              <a:rPr lang="en-US" altLang="ko-KR"/>
              <a:t>/ RTB</a:t>
            </a:r>
            <a:r>
              <a:rPr lang="ko-KR" altLang="en-US"/>
              <a:t>하우스 </a:t>
            </a:r>
            <a:r>
              <a:rPr lang="en-US" altLang="ko-KR"/>
              <a:t>/ </a:t>
            </a:r>
            <a:r>
              <a:rPr lang="ko-KR" altLang="en-US"/>
              <a:t>리머지 </a:t>
            </a:r>
            <a:r>
              <a:rPr lang="en-US" altLang="ko-KR"/>
              <a:t>/ </a:t>
            </a:r>
            <a:r>
              <a:rPr lang="ko-KR" altLang="en-US"/>
              <a:t>트위터 등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</p:spTree>
    <p:extLst>
      <p:ext uri="{BB962C8B-B14F-4D97-AF65-F5344CB8AC3E}">
        <p14:creationId xmlns:p14="http://schemas.microsoft.com/office/powerpoint/2010/main" val="1153500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987609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13632" y="469792"/>
            <a:ext cx="9478735" cy="6346644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175850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700"/>
              <a:t>모바일 웹 </a:t>
            </a:r>
            <a:r>
              <a:rPr lang="en-US" altLang="ko-KR" sz="700"/>
              <a:t>/ </a:t>
            </a:r>
            <a:r>
              <a:rPr lang="ko-KR" altLang="en-US" sz="700"/>
              <a:t>모바일 앱 </a:t>
            </a:r>
            <a:r>
              <a:rPr lang="en-US" altLang="ko-KR" sz="700"/>
              <a:t>/ PC </a:t>
            </a:r>
            <a:endParaRPr lang="ko-KR" altLang="en-US" sz="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388770"/>
            <a:ext cx="13035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7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561810"/>
            <a:ext cx="4414612" cy="20407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700"/>
              <a:t>카카오</a:t>
            </a:r>
            <a:r>
              <a:rPr lang="en-US" altLang="ko-KR" sz="700"/>
              <a:t>/</a:t>
            </a:r>
            <a:r>
              <a:rPr lang="ko-KR" altLang="en-US" sz="700"/>
              <a:t>네이버</a:t>
            </a:r>
            <a:r>
              <a:rPr lang="en-US" altLang="ko-KR" sz="700"/>
              <a:t>/</a:t>
            </a:r>
            <a:r>
              <a:rPr lang="ko-KR" altLang="en-US" sz="700"/>
              <a:t>토스 등</a:t>
            </a:r>
            <a:endParaRPr lang="ko-KR" altLang="en-US" sz="7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65093A6-119E-1871-E4C9-2C9BC85338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430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26" name="Picture 2" descr="소재 이미지">
            <a:extLst>
              <a:ext uri="{FF2B5EF4-FFF2-40B4-BE49-F238E27FC236}">
                <a16:creationId xmlns:a16="http://schemas.microsoft.com/office/drawing/2014/main" id="{FFAF78C6-C8EC-BEF0-1E1B-0CDD670D5B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1404205"/>
            <a:ext cx="4218436" cy="10576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ACD59D-F479-4487-16FE-A1EDE330E3B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52974" y="2838697"/>
            <a:ext cx="3516723" cy="1872951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C2292341-84DB-7579-ED70-9D9F0BE41D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6" y="5067756"/>
            <a:ext cx="3426562" cy="601855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92F48A-B73E-9C86-B15F-D4CCF896AE8D}"/>
              </a:ext>
            </a:extLst>
          </p:cNvPr>
          <p:cNvSpPr txBox="1"/>
          <p:nvPr userDrawn="1"/>
        </p:nvSpPr>
        <p:spPr>
          <a:xfrm>
            <a:off x="543136" y="1154415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비즈보드 </a:t>
            </a:r>
            <a:r>
              <a:rPr lang="en-US" altLang="ko-KR" sz="900"/>
              <a:t>/ </a:t>
            </a:r>
            <a:r>
              <a:rPr lang="ko-KR" altLang="en-US" sz="900"/>
              <a:t>스마트채널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92600-E14F-2A3C-AEEE-A14D794402F7}"/>
              </a:ext>
            </a:extLst>
          </p:cNvPr>
          <p:cNvSpPr txBox="1"/>
          <p:nvPr userDrawn="1"/>
        </p:nvSpPr>
        <p:spPr>
          <a:xfrm>
            <a:off x="543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네이티브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62586-A807-AE09-E230-7336ADF45CF2}"/>
              </a:ext>
            </a:extLst>
          </p:cNvPr>
          <p:cNvSpPr txBox="1"/>
          <p:nvPr userDrawn="1"/>
        </p:nvSpPr>
        <p:spPr>
          <a:xfrm>
            <a:off x="4419136" y="2644703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커뮤니케이션애드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F7354-2615-1FF9-0FD8-FD69EE951BFA}"/>
              </a:ext>
            </a:extLst>
          </p:cNvPr>
          <p:cNvSpPr txBox="1"/>
          <p:nvPr userDrawn="1"/>
        </p:nvSpPr>
        <p:spPr>
          <a:xfrm>
            <a:off x="549066" y="4836924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토스 혜택탭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4E719AF-1225-B795-E2BD-3D4C7C011A4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57953" y="2904265"/>
            <a:ext cx="3723730" cy="8255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45291D3-60B8-7E28-FC3C-ED02E78ACD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b="27576"/>
          <a:stretch/>
        </p:blipFill>
        <p:spPr>
          <a:xfrm>
            <a:off x="4357952" y="3802523"/>
            <a:ext cx="3723730" cy="8026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4C743D3-0318-7D9F-3E3F-99092191822E}"/>
              </a:ext>
            </a:extLst>
          </p:cNvPr>
          <p:cNvSpPr/>
          <p:nvPr userDrawn="1"/>
        </p:nvSpPr>
        <p:spPr>
          <a:xfrm>
            <a:off x="602166" y="1750741"/>
            <a:ext cx="2302727" cy="53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B9FAB9-31A7-5DA0-CB94-ED44C8410106}"/>
              </a:ext>
            </a:extLst>
          </p:cNvPr>
          <p:cNvSpPr/>
          <p:nvPr userDrawn="1"/>
        </p:nvSpPr>
        <p:spPr>
          <a:xfrm>
            <a:off x="3287751" y="1427863"/>
            <a:ext cx="1357729" cy="97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687E9B-9A1A-3ADF-56BA-58C5D371DC59}"/>
              </a:ext>
            </a:extLst>
          </p:cNvPr>
          <p:cNvSpPr/>
          <p:nvPr userDrawn="1"/>
        </p:nvSpPr>
        <p:spPr>
          <a:xfrm>
            <a:off x="5257439" y="1752688"/>
            <a:ext cx="2336541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E7FE92-3CC4-833C-C855-0B5B2A18CF8E}"/>
              </a:ext>
            </a:extLst>
          </p:cNvPr>
          <p:cNvSpPr/>
          <p:nvPr userDrawn="1"/>
        </p:nvSpPr>
        <p:spPr>
          <a:xfrm>
            <a:off x="7855673" y="1537046"/>
            <a:ext cx="1448161" cy="861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798467-1F19-85BB-7935-07EA20770065}"/>
              </a:ext>
            </a:extLst>
          </p:cNvPr>
          <p:cNvSpPr/>
          <p:nvPr userDrawn="1"/>
        </p:nvSpPr>
        <p:spPr>
          <a:xfrm>
            <a:off x="602166" y="2965647"/>
            <a:ext cx="2810107" cy="1269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0A5D69-01C4-CFA2-AF18-C3597AE2F3D1}"/>
              </a:ext>
            </a:extLst>
          </p:cNvPr>
          <p:cNvSpPr/>
          <p:nvPr userDrawn="1"/>
        </p:nvSpPr>
        <p:spPr>
          <a:xfrm>
            <a:off x="4443541" y="2992476"/>
            <a:ext cx="2765721" cy="41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C09ECC-2CF2-B257-1B83-D3437D32BDE5}"/>
              </a:ext>
            </a:extLst>
          </p:cNvPr>
          <p:cNvSpPr/>
          <p:nvPr userDrawn="1"/>
        </p:nvSpPr>
        <p:spPr>
          <a:xfrm>
            <a:off x="7165989" y="2965647"/>
            <a:ext cx="807134" cy="677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A2D2BE-6503-B6D9-6952-430F0E58E6BD}"/>
              </a:ext>
            </a:extLst>
          </p:cNvPr>
          <p:cNvSpPr/>
          <p:nvPr userDrawn="1"/>
        </p:nvSpPr>
        <p:spPr>
          <a:xfrm>
            <a:off x="4902291" y="4229063"/>
            <a:ext cx="2881260" cy="34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3287FDE-01C7-FEAB-E111-E965D7D18354}"/>
              </a:ext>
            </a:extLst>
          </p:cNvPr>
          <p:cNvSpPr/>
          <p:nvPr userDrawn="1"/>
        </p:nvSpPr>
        <p:spPr>
          <a:xfrm>
            <a:off x="602167" y="5079380"/>
            <a:ext cx="2685584" cy="5519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0B358B6-3B91-D960-26AF-7175075D4C01}"/>
              </a:ext>
            </a:extLst>
          </p:cNvPr>
          <p:cNvSpPr/>
          <p:nvPr userDrawn="1"/>
        </p:nvSpPr>
        <p:spPr>
          <a:xfrm>
            <a:off x="7904178" y="1523521"/>
            <a:ext cx="1301960" cy="842468"/>
          </a:xfrm>
          <a:prstGeom prst="roundRect">
            <a:avLst/>
          </a:prstGeom>
          <a:solidFill>
            <a:srgbClr val="FCF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34D5F-8194-67B9-5B46-480EA3ECF2A5}"/>
              </a:ext>
            </a:extLst>
          </p:cNvPr>
          <p:cNvSpPr txBox="1"/>
          <p:nvPr userDrawn="1"/>
        </p:nvSpPr>
        <p:spPr>
          <a:xfrm>
            <a:off x="4972305" y="4719988"/>
            <a:ext cx="240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당근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0378C4D-3824-8D14-4120-072641E3319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825252" y="4942554"/>
            <a:ext cx="4726153" cy="1520577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F3F0FA-3541-D84C-5C9A-FD1398C1F1AE}"/>
              </a:ext>
            </a:extLst>
          </p:cNvPr>
          <p:cNvSpPr/>
          <p:nvPr userDrawn="1"/>
        </p:nvSpPr>
        <p:spPr>
          <a:xfrm>
            <a:off x="5302405" y="-1"/>
            <a:ext cx="324936" cy="5207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E7F536-37F0-E1A4-043F-F1440BFC51E0}"/>
              </a:ext>
            </a:extLst>
          </p:cNvPr>
          <p:cNvSpPr/>
          <p:nvPr userDrawn="1"/>
        </p:nvSpPr>
        <p:spPr>
          <a:xfrm>
            <a:off x="0" y="5585569"/>
            <a:ext cx="5045927" cy="174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6367C7C-4BB5-4749-2999-57944EE23A2E}"/>
              </a:ext>
            </a:extLst>
          </p:cNvPr>
          <p:cNvSpPr/>
          <p:nvPr userDrawn="1"/>
        </p:nvSpPr>
        <p:spPr>
          <a:xfrm>
            <a:off x="6835394" y="-1"/>
            <a:ext cx="137805" cy="5207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C17E554-D128-9879-F3B1-EA5DE6FC0C32}"/>
              </a:ext>
            </a:extLst>
          </p:cNvPr>
          <p:cNvSpPr/>
          <p:nvPr userDrawn="1"/>
        </p:nvSpPr>
        <p:spPr>
          <a:xfrm>
            <a:off x="5045927" y="5207038"/>
            <a:ext cx="1042639" cy="104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85B88B-C3E2-7B66-CCA3-F70B4A3E74ED}"/>
              </a:ext>
            </a:extLst>
          </p:cNvPr>
          <p:cNvSpPr/>
          <p:nvPr userDrawn="1"/>
        </p:nvSpPr>
        <p:spPr>
          <a:xfrm>
            <a:off x="6220508" y="5207038"/>
            <a:ext cx="2494170" cy="3769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3BFC15F-67C6-167D-EF7A-8E05F772B35C}"/>
              </a:ext>
            </a:extLst>
          </p:cNvPr>
          <p:cNvSpPr/>
          <p:nvPr userDrawn="1"/>
        </p:nvSpPr>
        <p:spPr>
          <a:xfrm>
            <a:off x="6220508" y="5865726"/>
            <a:ext cx="2403087" cy="205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8C3BAC1-47BE-E7B0-AE8C-B92F6DD14B47}"/>
              </a:ext>
            </a:extLst>
          </p:cNvPr>
          <p:cNvSpPr/>
          <p:nvPr userDrawn="1"/>
        </p:nvSpPr>
        <p:spPr>
          <a:xfrm>
            <a:off x="0" y="5346963"/>
            <a:ext cx="6220508" cy="106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83F4F45-E898-82B7-FD1F-D5D4AF5E0DFA}"/>
              </a:ext>
            </a:extLst>
          </p:cNvPr>
          <p:cNvSpPr/>
          <p:nvPr userDrawn="1"/>
        </p:nvSpPr>
        <p:spPr>
          <a:xfrm>
            <a:off x="7369787" y="-1"/>
            <a:ext cx="137548" cy="5865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4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857852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17927-605D-48AF-5D0B-673D2A3F8E1B}"/>
              </a:ext>
            </a:extLst>
          </p:cNvPr>
          <p:cNvSpPr txBox="1"/>
          <p:nvPr userDrawn="1"/>
        </p:nvSpPr>
        <p:spPr>
          <a:xfrm>
            <a:off x="5005068" y="5973268"/>
            <a:ext cx="3121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사이즈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20436" y="513197"/>
            <a:ext cx="9478735" cy="5344655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046093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900"/>
              <a:t>모바일 웹 </a:t>
            </a:r>
            <a:r>
              <a:rPr lang="en-US" altLang="ko-KR" sz="900"/>
              <a:t>/ </a:t>
            </a:r>
            <a:r>
              <a:rPr lang="ko-KR" altLang="en-US" sz="900"/>
              <a:t>모바일 앱 </a:t>
            </a:r>
            <a:r>
              <a:rPr lang="en-US" altLang="ko-KR" sz="900"/>
              <a:t>/ PC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225220"/>
            <a:ext cx="16337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467726"/>
            <a:ext cx="4414612" cy="29815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 fontScale="77500" lnSpcReduction="20000"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/>
              <a:t>트레이딩웍스 </a:t>
            </a:r>
            <a:r>
              <a:rPr lang="en-US" altLang="ko-KR"/>
              <a:t>/ </a:t>
            </a:r>
            <a:r>
              <a:rPr lang="ko-KR" altLang="en-US"/>
              <a:t>크로스타겟 </a:t>
            </a:r>
            <a:r>
              <a:rPr lang="en-US" altLang="ko-KR"/>
              <a:t>/ TNK / </a:t>
            </a:r>
            <a:r>
              <a:rPr lang="ko-KR" altLang="en-US"/>
              <a:t>카울리 </a:t>
            </a:r>
            <a:r>
              <a:rPr lang="en-US" altLang="ko-KR"/>
              <a:t>/ GDN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인베스팅 </a:t>
            </a:r>
            <a:r>
              <a:rPr lang="en-US" altLang="ko-KR"/>
              <a:t>/ </a:t>
            </a:r>
            <a:r>
              <a:rPr lang="ko-KR" altLang="en-US"/>
              <a:t>네이버 </a:t>
            </a:r>
            <a:r>
              <a:rPr lang="en-US" altLang="ko-KR"/>
              <a:t>/ </a:t>
            </a:r>
            <a:r>
              <a:rPr lang="ko-KR" altLang="en-US"/>
              <a:t>카카오 </a:t>
            </a:r>
            <a:r>
              <a:rPr lang="en-US" altLang="ko-KR"/>
              <a:t>/ Meta / </a:t>
            </a:r>
            <a:r>
              <a:rPr lang="ko-KR" altLang="en-US"/>
              <a:t>구글 </a:t>
            </a:r>
            <a:r>
              <a:rPr lang="en-US" altLang="ko-KR"/>
              <a:t>/ </a:t>
            </a:r>
            <a:r>
              <a:rPr lang="ko-KR" altLang="en-US"/>
              <a:t>크리테오</a:t>
            </a:r>
            <a:r>
              <a:rPr lang="en-US" altLang="ko-KR"/>
              <a:t> / </a:t>
            </a:r>
            <a:r>
              <a:rPr lang="ko-KR" altLang="en-US"/>
              <a:t>몰로코 </a:t>
            </a:r>
            <a:r>
              <a:rPr lang="en-US" altLang="ko-KR"/>
              <a:t>/ RTB</a:t>
            </a:r>
            <a:r>
              <a:rPr lang="ko-KR" altLang="en-US"/>
              <a:t>하우스 </a:t>
            </a:r>
            <a:r>
              <a:rPr lang="en-US" altLang="ko-KR"/>
              <a:t>/ </a:t>
            </a:r>
            <a:r>
              <a:rPr lang="ko-KR" altLang="en-US"/>
              <a:t>리머지 </a:t>
            </a:r>
            <a:r>
              <a:rPr lang="en-US" altLang="ko-KR"/>
              <a:t>/ </a:t>
            </a:r>
            <a:r>
              <a:rPr lang="ko-KR" altLang="en-US"/>
              <a:t>트위터 등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021E7-67A0-79FB-50BF-12DDFCF445B8}"/>
              </a:ext>
            </a:extLst>
          </p:cNvPr>
          <p:cNvSpPr txBox="1"/>
          <p:nvPr userDrawn="1"/>
        </p:nvSpPr>
        <p:spPr>
          <a:xfrm>
            <a:off x="1761689" y="3136239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1200x627_CTAx</a:t>
            </a:r>
            <a:endParaRPr lang="ko-KR" altLang="en-US" sz="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F5DDD9-7007-6333-76FF-FB8CB332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71" y="1048571"/>
            <a:ext cx="3105583" cy="66684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69C2AA-6A7C-D3DD-7A1F-3120D2F562B4}"/>
              </a:ext>
            </a:extLst>
          </p:cNvPr>
          <p:cNvSpPr/>
          <p:nvPr/>
        </p:nvSpPr>
        <p:spPr>
          <a:xfrm>
            <a:off x="896713" y="1184583"/>
            <a:ext cx="1732084" cy="2133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altLang="en-US" sz="900" dirty="0">
              <a:solidFill>
                <a:schemeClr val="tx1"/>
              </a:solidFill>
            </a:endParaRPr>
          </a:p>
        </p:txBody>
      </p:sp>
      <p:pic>
        <p:nvPicPr>
          <p:cNvPr id="16" name="그림 15" descr="폰트, 일렉트릭 블루, 텍스트, 상징이(가) 표시된 사진&#10;&#10;자동 생성된 설명">
            <a:extLst>
              <a:ext uri="{FF2B5EF4-FFF2-40B4-BE49-F238E27FC236}">
                <a16:creationId xmlns:a16="http://schemas.microsoft.com/office/drawing/2014/main" id="{0E37A39C-CECA-66A3-C3D9-A357F0866D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27" y="1162588"/>
            <a:ext cx="443570" cy="44357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08AA37-C0F3-CAC6-9D5F-75462654A676}"/>
              </a:ext>
            </a:extLst>
          </p:cNvPr>
          <p:cNvSpPr/>
          <p:nvPr/>
        </p:nvSpPr>
        <p:spPr>
          <a:xfrm>
            <a:off x="1779363" y="1370510"/>
            <a:ext cx="948598" cy="1859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</a:rPr>
              <a:t>OOO</a:t>
            </a:r>
            <a:r>
              <a:rPr lang="ko-KR" altLang="en-US" sz="900" dirty="0">
                <a:solidFill>
                  <a:schemeClr val="tx1"/>
                </a:solidFill>
              </a:rPr>
              <a:t>원 드려요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831A0-6418-FAED-B244-37E5C18BC620}"/>
              </a:ext>
            </a:extLst>
          </p:cNvPr>
          <p:cNvSpPr txBox="1"/>
          <p:nvPr userDrawn="1"/>
        </p:nvSpPr>
        <p:spPr>
          <a:xfrm>
            <a:off x="1464227" y="627386"/>
            <a:ext cx="637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버즈빌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58A1C2-D8F6-9939-C506-388AB443D797}"/>
              </a:ext>
            </a:extLst>
          </p:cNvPr>
          <p:cNvSpPr/>
          <p:nvPr userDrawn="1"/>
        </p:nvSpPr>
        <p:spPr>
          <a:xfrm>
            <a:off x="1461136" y="711087"/>
            <a:ext cx="2628900" cy="321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</a:rPr>
              <a:t>* </a:t>
            </a:r>
            <a:r>
              <a:rPr lang="ko-KR" altLang="en-US" sz="800" dirty="0">
                <a:solidFill>
                  <a:schemeClr val="tx1"/>
                </a:solidFill>
              </a:rPr>
              <a:t>지급 리워드는 셋팅 시 상이해질 수 있습니다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39BF82-F4AB-4BCE-380E-B5F5CBFDECED}"/>
              </a:ext>
            </a:extLst>
          </p:cNvPr>
          <p:cNvSpPr txBox="1"/>
          <p:nvPr userDrawn="1"/>
        </p:nvSpPr>
        <p:spPr>
          <a:xfrm>
            <a:off x="4899122" y="2196373"/>
            <a:ext cx="11915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GFA </a:t>
            </a:r>
            <a:r>
              <a:rPr lang="ko-KR" altLang="en-US" sz="900"/>
              <a:t>홈피드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828437-0891-1767-85D6-372E61B5B37E}"/>
              </a:ext>
            </a:extLst>
          </p:cNvPr>
          <p:cNvSpPr txBox="1"/>
          <p:nvPr userDrawn="1"/>
        </p:nvSpPr>
        <p:spPr>
          <a:xfrm>
            <a:off x="4931784" y="712269"/>
            <a:ext cx="9714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스페셜</a:t>
            </a:r>
            <a:r>
              <a:rPr lang="en-US" altLang="ko-KR" sz="900"/>
              <a:t>DA</a:t>
            </a:r>
          </a:p>
          <a:p>
            <a:r>
              <a:rPr lang="en-US" altLang="ko-KR" sz="900"/>
              <a:t>(</a:t>
            </a:r>
            <a:r>
              <a:rPr lang="ko-KR" altLang="en-US" sz="900"/>
              <a:t>스마트채널</a:t>
            </a:r>
            <a:endParaRPr lang="en-US" altLang="ko-KR" sz="900"/>
          </a:p>
          <a:p>
            <a:r>
              <a:rPr lang="ko-KR" altLang="en-US" sz="900"/>
              <a:t>네이버 메인홈</a:t>
            </a:r>
            <a:r>
              <a:rPr lang="en-US" altLang="ko-KR" sz="900"/>
              <a:t>)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2335189F-9E7A-09E7-0E06-269DF603716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95015" y="733578"/>
            <a:ext cx="2753273" cy="734206"/>
          </a:xfrm>
          <a:prstGeom prst="rect">
            <a:avLst/>
          </a:prstGeom>
          <a:ln w="6350">
            <a:solidFill>
              <a:schemeClr val="bg2">
                <a:lumMod val="90000"/>
              </a:schemeClr>
            </a:solidFill>
          </a:ln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7406BB41-AA1D-4CAB-80D1-4E239070E921}"/>
              </a:ext>
            </a:extLst>
          </p:cNvPr>
          <p:cNvSpPr/>
          <p:nvPr userDrawn="1"/>
        </p:nvSpPr>
        <p:spPr>
          <a:xfrm>
            <a:off x="6090707" y="954596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543117B-0501-F501-8D1C-134DBD48BF1E}"/>
              </a:ext>
            </a:extLst>
          </p:cNvPr>
          <p:cNvSpPr/>
          <p:nvPr userDrawn="1"/>
        </p:nvSpPr>
        <p:spPr>
          <a:xfrm>
            <a:off x="7537784" y="751462"/>
            <a:ext cx="1129933" cy="71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89B9F44-B84D-EF87-1CCF-E1C215E10B87}"/>
              </a:ext>
            </a:extLst>
          </p:cNvPr>
          <p:cNvSpPr/>
          <p:nvPr userDrawn="1"/>
        </p:nvSpPr>
        <p:spPr>
          <a:xfrm>
            <a:off x="6090707" y="1738795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9ACC1A8B-F0C5-7181-6418-1C8F1B39C2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95015" y="1517796"/>
            <a:ext cx="2753273" cy="734206"/>
          </a:xfrm>
          <a:prstGeom prst="rect">
            <a:avLst/>
          </a:prstGeom>
          <a:ln w="6350">
            <a:solidFill>
              <a:schemeClr val="bg2">
                <a:lumMod val="90000"/>
              </a:schemeClr>
            </a:solidFill>
          </a:ln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B1C5BA5C-8E9D-4603-7732-BC329B8BA3AE}"/>
              </a:ext>
            </a:extLst>
          </p:cNvPr>
          <p:cNvSpPr/>
          <p:nvPr userDrawn="1"/>
        </p:nvSpPr>
        <p:spPr>
          <a:xfrm>
            <a:off x="6090707" y="1738814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B3B9F5A-3CE2-B444-C1A4-2EFC628537D2}"/>
              </a:ext>
            </a:extLst>
          </p:cNvPr>
          <p:cNvSpPr/>
          <p:nvPr userDrawn="1"/>
        </p:nvSpPr>
        <p:spPr>
          <a:xfrm>
            <a:off x="7537784" y="1535680"/>
            <a:ext cx="1129933" cy="71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BCE07F2F-5467-7F3F-37C4-BB06A47288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68533" y="2427205"/>
            <a:ext cx="2302157" cy="3341527"/>
          </a:xfrm>
          <a:prstGeom prst="rect">
            <a:avLst/>
          </a:prstGeom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56403E78-04EC-0C9F-04B8-55FA64BF0FDC}"/>
              </a:ext>
            </a:extLst>
          </p:cNvPr>
          <p:cNvSpPr/>
          <p:nvPr userDrawn="1"/>
        </p:nvSpPr>
        <p:spPr>
          <a:xfrm>
            <a:off x="4959803" y="2822639"/>
            <a:ext cx="2120781" cy="360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5A0896C-4919-79B9-BD37-EE26DD3720B0}"/>
              </a:ext>
            </a:extLst>
          </p:cNvPr>
          <p:cNvSpPr/>
          <p:nvPr userDrawn="1"/>
        </p:nvSpPr>
        <p:spPr>
          <a:xfrm>
            <a:off x="4899122" y="3255500"/>
            <a:ext cx="2223038" cy="2205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114803A-8D2D-2B02-53CE-6D60D265DC8A}"/>
              </a:ext>
            </a:extLst>
          </p:cNvPr>
          <p:cNvSpPr txBox="1"/>
          <p:nvPr userDrawn="1"/>
        </p:nvSpPr>
        <p:spPr>
          <a:xfrm>
            <a:off x="5321342" y="4242834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1200x1200</a:t>
            </a:r>
            <a:endParaRPr lang="ko-KR" altLang="en-US" sz="900" dirty="0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95D784C9-92B2-8727-0E2C-EFC1C0B8DA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01279" y="2427205"/>
            <a:ext cx="2302157" cy="3341527"/>
          </a:xfrm>
          <a:prstGeom prst="rect">
            <a:avLst/>
          </a:prstGeom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FAA445A6-A444-9690-27A6-B04AB8EBD92F}"/>
              </a:ext>
            </a:extLst>
          </p:cNvPr>
          <p:cNvSpPr/>
          <p:nvPr userDrawn="1"/>
        </p:nvSpPr>
        <p:spPr>
          <a:xfrm>
            <a:off x="7292549" y="2822639"/>
            <a:ext cx="2120781" cy="360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57EE294F-A414-EBAC-0F09-DACAAC16AAF9}"/>
              </a:ext>
            </a:extLst>
          </p:cNvPr>
          <p:cNvSpPr/>
          <p:nvPr userDrawn="1"/>
        </p:nvSpPr>
        <p:spPr>
          <a:xfrm>
            <a:off x="7231868" y="3255500"/>
            <a:ext cx="2223038" cy="2205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CFA2589-6BAE-DCA8-E6A6-22B2C9BAFCA9}"/>
              </a:ext>
            </a:extLst>
          </p:cNvPr>
          <p:cNvCxnSpPr/>
          <p:nvPr userDrawn="1"/>
        </p:nvCxnSpPr>
        <p:spPr>
          <a:xfrm>
            <a:off x="4765103" y="716238"/>
            <a:ext cx="0" cy="4896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383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F78B6-F847-7EC9-30AE-6E88AE566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" y="80792"/>
            <a:ext cx="676278" cy="197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DE35A-F56E-7427-54DD-97F9EFBECE2C}"/>
              </a:ext>
            </a:extLst>
          </p:cNvPr>
          <p:cNvSpPr txBox="1"/>
          <p:nvPr userDrawn="1"/>
        </p:nvSpPr>
        <p:spPr>
          <a:xfrm>
            <a:off x="130629" y="2525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바탕" panose="02030600000101010101" pitchFamily="18" charset="-127"/>
                <a:ea typeface="바탕" panose="02030600000101010101" pitchFamily="18" charset="-127"/>
              </a:rPr>
              <a:t>소재명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549E-B639-CE52-4F99-16EB7B5DF543}"/>
              </a:ext>
            </a:extLst>
          </p:cNvPr>
          <p:cNvSpPr txBox="1"/>
          <p:nvPr userDrawn="1"/>
        </p:nvSpPr>
        <p:spPr>
          <a:xfrm>
            <a:off x="134619" y="5857852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매체 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전부 기재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ko-KR" altLang="en-US" sz="900" b="1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17927-605D-48AF-5D0B-673D2A3F8E1B}"/>
              </a:ext>
            </a:extLst>
          </p:cNvPr>
          <p:cNvSpPr txBox="1"/>
          <p:nvPr userDrawn="1"/>
        </p:nvSpPr>
        <p:spPr>
          <a:xfrm>
            <a:off x="5005068" y="5973268"/>
            <a:ext cx="3121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사용 사이즈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237B6-1A40-FB3E-8E4F-AC9985A29D9C}"/>
              </a:ext>
            </a:extLst>
          </p:cNvPr>
          <p:cNvSpPr/>
          <p:nvPr userDrawn="1"/>
        </p:nvSpPr>
        <p:spPr>
          <a:xfrm>
            <a:off x="220436" y="513197"/>
            <a:ext cx="9478735" cy="5344655"/>
          </a:xfrm>
          <a:prstGeom prst="rect">
            <a:avLst/>
          </a:prstGeom>
          <a:noFill/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6">
            <a:extLst>
              <a:ext uri="{FF2B5EF4-FFF2-40B4-BE49-F238E27FC236}">
                <a16:creationId xmlns:a16="http://schemas.microsoft.com/office/drawing/2014/main" id="{8B7F92E9-B51E-132B-A760-EFB04EBF7CAC}"/>
              </a:ext>
            </a:extLst>
          </p:cNvPr>
          <p:cNvSpPr txBox="1">
            <a:spLocks/>
          </p:cNvSpPr>
          <p:nvPr userDrawn="1"/>
        </p:nvSpPr>
        <p:spPr>
          <a:xfrm>
            <a:off x="230868" y="6046093"/>
            <a:ext cx="4414612" cy="2462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900"/>
              <a:t>모바일 웹 </a:t>
            </a:r>
            <a:r>
              <a:rPr lang="en-US" altLang="ko-KR" sz="900"/>
              <a:t>/ </a:t>
            </a:r>
            <a:r>
              <a:rPr lang="ko-KR" altLang="en-US" sz="900"/>
              <a:t>모바일 앱 </a:t>
            </a:r>
            <a:r>
              <a:rPr lang="en-US" altLang="ko-KR" sz="900"/>
              <a:t>/ PC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F8054-1168-1A81-52C5-B68DEF90992D}"/>
              </a:ext>
            </a:extLst>
          </p:cNvPr>
          <p:cNvSpPr txBox="1"/>
          <p:nvPr userDrawn="1"/>
        </p:nvSpPr>
        <p:spPr>
          <a:xfrm>
            <a:off x="127908" y="6225220"/>
            <a:ext cx="16337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참고</a:t>
            </a:r>
            <a:r>
              <a:rPr lang="en-US" altLang="ko-KR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900" b="1" dirty="0">
                <a:latin typeface="바탕" panose="02030600000101010101" pitchFamily="18" charset="-127"/>
                <a:ea typeface="바탕" panose="02030600000101010101" pitchFamily="18" charset="-127"/>
              </a:rPr>
              <a:t>광고 노출 미디어 예시</a:t>
            </a:r>
          </a:p>
        </p:txBody>
      </p:sp>
      <p:sp>
        <p:nvSpPr>
          <p:cNvPr id="14" name="텍스트 개체 틀 16">
            <a:extLst>
              <a:ext uri="{FF2B5EF4-FFF2-40B4-BE49-F238E27FC236}">
                <a16:creationId xmlns:a16="http://schemas.microsoft.com/office/drawing/2014/main" id="{85D8C781-A3FD-7884-4A32-EF441F4B1E04}"/>
              </a:ext>
            </a:extLst>
          </p:cNvPr>
          <p:cNvSpPr txBox="1">
            <a:spLocks/>
          </p:cNvSpPr>
          <p:nvPr userDrawn="1"/>
        </p:nvSpPr>
        <p:spPr>
          <a:xfrm>
            <a:off x="230868" y="6467726"/>
            <a:ext cx="4414612" cy="29815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txBody>
          <a:bodyPr>
            <a:normAutofit fontScale="77500" lnSpcReduction="20000"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/>
              <a:t>트레이딩웍스 </a:t>
            </a:r>
            <a:r>
              <a:rPr lang="en-US" altLang="ko-KR"/>
              <a:t>/ </a:t>
            </a:r>
            <a:r>
              <a:rPr lang="ko-KR" altLang="en-US"/>
              <a:t>크로스타겟 </a:t>
            </a:r>
            <a:r>
              <a:rPr lang="en-US" altLang="ko-KR"/>
              <a:t>/ TNK / </a:t>
            </a:r>
            <a:r>
              <a:rPr lang="ko-KR" altLang="en-US"/>
              <a:t>카울리 </a:t>
            </a:r>
            <a:r>
              <a:rPr lang="en-US" altLang="ko-KR"/>
              <a:t>/ GDN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인베스팅 </a:t>
            </a:r>
            <a:r>
              <a:rPr lang="en-US" altLang="ko-KR"/>
              <a:t>/ </a:t>
            </a:r>
            <a:r>
              <a:rPr lang="ko-KR" altLang="en-US"/>
              <a:t>네이버 </a:t>
            </a:r>
            <a:r>
              <a:rPr lang="en-US" altLang="ko-KR"/>
              <a:t>/ </a:t>
            </a:r>
            <a:r>
              <a:rPr lang="ko-KR" altLang="en-US"/>
              <a:t>카카오 </a:t>
            </a:r>
            <a:r>
              <a:rPr lang="en-US" altLang="ko-KR"/>
              <a:t>/ Meta / </a:t>
            </a:r>
            <a:r>
              <a:rPr lang="ko-KR" altLang="en-US"/>
              <a:t>구글 </a:t>
            </a:r>
            <a:r>
              <a:rPr lang="en-US" altLang="ko-KR"/>
              <a:t>/ </a:t>
            </a:r>
            <a:r>
              <a:rPr lang="ko-KR" altLang="en-US"/>
              <a:t>크리테오</a:t>
            </a:r>
            <a:r>
              <a:rPr lang="en-US" altLang="ko-KR"/>
              <a:t> / </a:t>
            </a:r>
            <a:r>
              <a:rPr lang="ko-KR" altLang="en-US"/>
              <a:t>몰로코 </a:t>
            </a:r>
            <a:r>
              <a:rPr lang="en-US" altLang="ko-KR"/>
              <a:t>/ RTB</a:t>
            </a:r>
            <a:r>
              <a:rPr lang="ko-KR" altLang="en-US"/>
              <a:t>하우스 </a:t>
            </a:r>
            <a:r>
              <a:rPr lang="en-US" altLang="ko-KR"/>
              <a:t>/ </a:t>
            </a:r>
            <a:r>
              <a:rPr lang="ko-KR" altLang="en-US"/>
              <a:t>리머지 </a:t>
            </a:r>
            <a:r>
              <a:rPr lang="en-US" altLang="ko-KR"/>
              <a:t>/ </a:t>
            </a:r>
            <a:r>
              <a:rPr lang="ko-KR" altLang="en-US"/>
              <a:t>트위터 등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F1A7FD-2B1F-50F4-66B8-8B0562223DD6}"/>
              </a:ext>
            </a:extLst>
          </p:cNvPr>
          <p:cNvSpPr/>
          <p:nvPr userDrawn="1"/>
        </p:nvSpPr>
        <p:spPr>
          <a:xfrm>
            <a:off x="333062" y="654947"/>
            <a:ext cx="1127303" cy="288154"/>
          </a:xfrm>
          <a:prstGeom prst="roundRect">
            <a:avLst/>
          </a:prstGeom>
          <a:solidFill>
            <a:srgbClr val="004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대표시안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021E7-67A0-79FB-50BF-12DDFCF445B8}"/>
              </a:ext>
            </a:extLst>
          </p:cNvPr>
          <p:cNvSpPr txBox="1"/>
          <p:nvPr userDrawn="1"/>
        </p:nvSpPr>
        <p:spPr>
          <a:xfrm>
            <a:off x="1761689" y="3136239"/>
            <a:ext cx="13965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1200x627_CTAx</a:t>
            </a:r>
            <a:endParaRPr lang="ko-KR" altLang="en-US" sz="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F5DDD9-7007-6333-76FF-FB8CB332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71" y="1048571"/>
            <a:ext cx="3105583" cy="66684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69C2AA-6A7C-D3DD-7A1F-3120D2F562B4}"/>
              </a:ext>
            </a:extLst>
          </p:cNvPr>
          <p:cNvSpPr/>
          <p:nvPr/>
        </p:nvSpPr>
        <p:spPr>
          <a:xfrm>
            <a:off x="896713" y="1184583"/>
            <a:ext cx="1732084" cy="2133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altLang="en-US" sz="900" dirty="0">
              <a:solidFill>
                <a:schemeClr val="tx1"/>
              </a:solidFill>
            </a:endParaRPr>
          </a:p>
        </p:txBody>
      </p:sp>
      <p:pic>
        <p:nvPicPr>
          <p:cNvPr id="16" name="그림 15" descr="폰트, 일렉트릭 블루, 텍스트, 상징이(가) 표시된 사진&#10;&#10;자동 생성된 설명">
            <a:extLst>
              <a:ext uri="{FF2B5EF4-FFF2-40B4-BE49-F238E27FC236}">
                <a16:creationId xmlns:a16="http://schemas.microsoft.com/office/drawing/2014/main" id="{0E37A39C-CECA-66A3-C3D9-A357F0866D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27" y="1162588"/>
            <a:ext cx="443570" cy="44357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08AA37-C0F3-CAC6-9D5F-75462654A676}"/>
              </a:ext>
            </a:extLst>
          </p:cNvPr>
          <p:cNvSpPr/>
          <p:nvPr/>
        </p:nvSpPr>
        <p:spPr>
          <a:xfrm>
            <a:off x="1779363" y="1370510"/>
            <a:ext cx="948598" cy="1859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</a:rPr>
              <a:t>OOO</a:t>
            </a:r>
            <a:r>
              <a:rPr lang="ko-KR" altLang="en-US" sz="900" dirty="0">
                <a:solidFill>
                  <a:schemeClr val="tx1"/>
                </a:solidFill>
              </a:rPr>
              <a:t>원 드려요</a:t>
            </a:r>
          </a:p>
        </p:txBody>
      </p:sp>
      <p:pic>
        <p:nvPicPr>
          <p:cNvPr id="28" name="그림 27" descr="텍스트, 스크린샷, 이모티콘, 스마일리이(가) 표시된 사진&#10;&#10;자동 생성된 설명">
            <a:extLst>
              <a:ext uri="{FF2B5EF4-FFF2-40B4-BE49-F238E27FC236}">
                <a16:creationId xmlns:a16="http://schemas.microsoft.com/office/drawing/2014/main" id="{6DBC144E-BD93-66D2-A1F3-38BE8F6140A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0" y="1794399"/>
            <a:ext cx="3723058" cy="1945298"/>
          </a:xfrm>
          <a:prstGeom prst="rect">
            <a:avLst/>
          </a:prstGeom>
        </p:spPr>
      </p:pic>
      <p:pic>
        <p:nvPicPr>
          <p:cNvPr id="30" name="그림 29" descr="텍스트, 스크린샷, 이모티콘, 스마일리이(가) 표시된 사진&#10;&#10;자동 생성된 설명">
            <a:extLst>
              <a:ext uri="{FF2B5EF4-FFF2-40B4-BE49-F238E27FC236}">
                <a16:creationId xmlns:a16="http://schemas.microsoft.com/office/drawing/2014/main" id="{D85635DD-94F2-650C-552E-2390ADA66E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0" y="3824886"/>
            <a:ext cx="3723058" cy="1945298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5354FA-0CF8-4C92-BA18-31DCB89E37B4}"/>
              </a:ext>
            </a:extLst>
          </p:cNvPr>
          <p:cNvSpPr/>
          <p:nvPr userDrawn="1"/>
        </p:nvSpPr>
        <p:spPr>
          <a:xfrm>
            <a:off x="0" y="1199447"/>
            <a:ext cx="97940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2893038-D36A-3215-82D7-93EB2C24AB5E}"/>
              </a:ext>
            </a:extLst>
          </p:cNvPr>
          <p:cNvSpPr/>
          <p:nvPr userDrawn="1"/>
        </p:nvSpPr>
        <p:spPr>
          <a:xfrm>
            <a:off x="1967432" y="0"/>
            <a:ext cx="45719" cy="11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83143A-4CD8-5895-1A05-62AC84311FDE}"/>
              </a:ext>
            </a:extLst>
          </p:cNvPr>
          <p:cNvSpPr/>
          <p:nvPr userDrawn="1"/>
        </p:nvSpPr>
        <p:spPr>
          <a:xfrm>
            <a:off x="4439573" y="0"/>
            <a:ext cx="45719" cy="1791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1E4481-F6DA-2820-739A-2FF46097BE78}"/>
              </a:ext>
            </a:extLst>
          </p:cNvPr>
          <p:cNvSpPr/>
          <p:nvPr userDrawn="1"/>
        </p:nvSpPr>
        <p:spPr>
          <a:xfrm>
            <a:off x="0" y="2670340"/>
            <a:ext cx="97940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722E7C0-131C-4817-9BDE-E9731430979C}"/>
              </a:ext>
            </a:extLst>
          </p:cNvPr>
          <p:cNvSpPr/>
          <p:nvPr userDrawn="1"/>
        </p:nvSpPr>
        <p:spPr>
          <a:xfrm>
            <a:off x="0" y="4834214"/>
            <a:ext cx="97940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C4F0D8D-903F-E27A-8CC6-DDC2C2A6CDC7}"/>
              </a:ext>
            </a:extLst>
          </p:cNvPr>
          <p:cNvSpPr/>
          <p:nvPr userDrawn="1"/>
        </p:nvSpPr>
        <p:spPr>
          <a:xfrm>
            <a:off x="4204325" y="0"/>
            <a:ext cx="45719" cy="3824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8B35E57-FC1A-CBD7-7A22-FD0B2E33DA17}"/>
              </a:ext>
            </a:extLst>
          </p:cNvPr>
          <p:cNvSpPr/>
          <p:nvPr userDrawn="1"/>
        </p:nvSpPr>
        <p:spPr>
          <a:xfrm>
            <a:off x="998621" y="1199409"/>
            <a:ext cx="1729339" cy="65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BE723-5C71-34D6-C210-C4B413E6AB96}"/>
              </a:ext>
            </a:extLst>
          </p:cNvPr>
          <p:cNvSpPr txBox="1"/>
          <p:nvPr userDrawn="1"/>
        </p:nvSpPr>
        <p:spPr>
          <a:xfrm>
            <a:off x="1464227" y="627386"/>
            <a:ext cx="637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버즈빌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A3ECF9-6A46-619D-E1F7-DBF8E4A086F8}"/>
              </a:ext>
            </a:extLst>
          </p:cNvPr>
          <p:cNvSpPr/>
          <p:nvPr userDrawn="1"/>
        </p:nvSpPr>
        <p:spPr>
          <a:xfrm>
            <a:off x="1461136" y="711087"/>
            <a:ext cx="2628900" cy="321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</a:rPr>
              <a:t>* </a:t>
            </a:r>
            <a:r>
              <a:rPr lang="ko-KR" altLang="en-US" sz="800" dirty="0">
                <a:solidFill>
                  <a:schemeClr val="tx1"/>
                </a:solidFill>
              </a:rPr>
              <a:t>지급 리워드는 셋팅 시 상이해질 수 있습니다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AB6BFB-C1E3-C452-AF45-D64DBC33B63D}"/>
              </a:ext>
            </a:extLst>
          </p:cNvPr>
          <p:cNvSpPr txBox="1"/>
          <p:nvPr userDrawn="1"/>
        </p:nvSpPr>
        <p:spPr>
          <a:xfrm>
            <a:off x="4899122" y="2196373"/>
            <a:ext cx="11915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GFA </a:t>
            </a:r>
            <a:r>
              <a:rPr lang="ko-KR" altLang="en-US" sz="900"/>
              <a:t>홈피드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C0F725-8420-4546-6517-4167C13C6881}"/>
              </a:ext>
            </a:extLst>
          </p:cNvPr>
          <p:cNvSpPr txBox="1"/>
          <p:nvPr userDrawn="1"/>
        </p:nvSpPr>
        <p:spPr>
          <a:xfrm>
            <a:off x="4931784" y="712269"/>
            <a:ext cx="9714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스페셜</a:t>
            </a:r>
            <a:r>
              <a:rPr lang="en-US" altLang="ko-KR" sz="900"/>
              <a:t>DA</a:t>
            </a:r>
          </a:p>
          <a:p>
            <a:r>
              <a:rPr lang="en-US" altLang="ko-KR" sz="900"/>
              <a:t>(</a:t>
            </a:r>
            <a:r>
              <a:rPr lang="ko-KR" altLang="en-US" sz="900"/>
              <a:t>스마트채널</a:t>
            </a:r>
            <a:endParaRPr lang="en-US" altLang="ko-KR" sz="900"/>
          </a:p>
          <a:p>
            <a:r>
              <a:rPr lang="ko-KR" altLang="en-US" sz="900"/>
              <a:t>네이버 메인홈</a:t>
            </a:r>
            <a:r>
              <a:rPr lang="en-US" altLang="ko-KR" sz="900"/>
              <a:t>)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6A0A6C62-E58A-B948-9E14-3A73BC8183B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68533" y="2427205"/>
            <a:ext cx="2302157" cy="3341527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775ED9C0-8DDE-31B0-8E2B-66AE518ACD0E}"/>
              </a:ext>
            </a:extLst>
          </p:cNvPr>
          <p:cNvSpPr/>
          <p:nvPr userDrawn="1"/>
        </p:nvSpPr>
        <p:spPr>
          <a:xfrm>
            <a:off x="4959803" y="2822639"/>
            <a:ext cx="2120781" cy="360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951ADE3-1C27-AB17-7069-2EB1F2879B2C}"/>
              </a:ext>
            </a:extLst>
          </p:cNvPr>
          <p:cNvSpPr/>
          <p:nvPr userDrawn="1"/>
        </p:nvSpPr>
        <p:spPr>
          <a:xfrm>
            <a:off x="4951041" y="2800814"/>
            <a:ext cx="2137140" cy="382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52F54C83-37C7-F638-A98F-FE4D864F44F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01279" y="2427205"/>
            <a:ext cx="2302157" cy="3341527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B30A1370-3698-3793-B8C6-D1D2EBE0B5C1}"/>
              </a:ext>
            </a:extLst>
          </p:cNvPr>
          <p:cNvSpPr/>
          <p:nvPr userDrawn="1"/>
        </p:nvSpPr>
        <p:spPr>
          <a:xfrm>
            <a:off x="7292549" y="2822639"/>
            <a:ext cx="2120781" cy="360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8EE334C-7A18-572D-50E1-17447B562A4E}"/>
              </a:ext>
            </a:extLst>
          </p:cNvPr>
          <p:cNvSpPr/>
          <p:nvPr userDrawn="1"/>
        </p:nvSpPr>
        <p:spPr>
          <a:xfrm>
            <a:off x="7283787" y="2800814"/>
            <a:ext cx="2137140" cy="382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B54C45F3-8291-8EC6-F007-7FF55541D2D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95015" y="733578"/>
            <a:ext cx="2753273" cy="734206"/>
          </a:xfrm>
          <a:prstGeom prst="rect">
            <a:avLst/>
          </a:prstGeom>
          <a:ln w="6350">
            <a:solidFill>
              <a:schemeClr val="bg2">
                <a:lumMod val="90000"/>
              </a:schemeClr>
            </a:solidFill>
          </a:ln>
        </p:spPr>
      </p:pic>
      <p:sp>
        <p:nvSpPr>
          <p:cNvPr id="88" name="직사각형 87">
            <a:extLst>
              <a:ext uri="{FF2B5EF4-FFF2-40B4-BE49-F238E27FC236}">
                <a16:creationId xmlns:a16="http://schemas.microsoft.com/office/drawing/2014/main" id="{E6D0CE62-3E7A-098C-DA92-E59883D73228}"/>
              </a:ext>
            </a:extLst>
          </p:cNvPr>
          <p:cNvSpPr/>
          <p:nvPr userDrawn="1"/>
        </p:nvSpPr>
        <p:spPr>
          <a:xfrm>
            <a:off x="6090707" y="954596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07A01FE-B724-74A3-475D-9DBB19B949AB}"/>
              </a:ext>
            </a:extLst>
          </p:cNvPr>
          <p:cNvSpPr/>
          <p:nvPr userDrawn="1"/>
        </p:nvSpPr>
        <p:spPr>
          <a:xfrm>
            <a:off x="7537784" y="751462"/>
            <a:ext cx="1129933" cy="71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59FBAFA-F9F1-0CC9-1811-BC3869347892}"/>
              </a:ext>
            </a:extLst>
          </p:cNvPr>
          <p:cNvSpPr/>
          <p:nvPr userDrawn="1"/>
        </p:nvSpPr>
        <p:spPr>
          <a:xfrm>
            <a:off x="6090707" y="1738795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CFCAAE45-D433-842D-BE0C-C15ED896EFE4}"/>
              </a:ext>
            </a:extLst>
          </p:cNvPr>
          <p:cNvGrpSpPr/>
          <p:nvPr userDrawn="1"/>
        </p:nvGrpSpPr>
        <p:grpSpPr>
          <a:xfrm>
            <a:off x="6064249" y="880666"/>
            <a:ext cx="1565948" cy="440031"/>
            <a:chOff x="6064249" y="877752"/>
            <a:chExt cx="1501776" cy="440031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BCCAECE-7923-4332-CD74-8C4FE7DEF968}"/>
                </a:ext>
              </a:extLst>
            </p:cNvPr>
            <p:cNvSpPr/>
            <p:nvPr userDrawn="1"/>
          </p:nvSpPr>
          <p:spPr>
            <a:xfrm>
              <a:off x="6064250" y="877752"/>
              <a:ext cx="1501775" cy="2049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3782278-3D41-658A-7151-F085E41FDEBD}"/>
                </a:ext>
              </a:extLst>
            </p:cNvPr>
            <p:cNvSpPr/>
            <p:nvPr userDrawn="1"/>
          </p:nvSpPr>
          <p:spPr>
            <a:xfrm>
              <a:off x="6064249" y="1112860"/>
              <a:ext cx="1501775" cy="2049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4" name="그림 93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CDAC2AFC-49A0-2EFC-8E6F-13B4EE00084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928" y="742420"/>
            <a:ext cx="874581" cy="716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4EC962EC-7A6E-092A-031A-2671DF6214A5}"/>
              </a:ext>
            </a:extLst>
          </p:cNvPr>
          <p:cNvSpPr/>
          <p:nvPr userDrawn="1"/>
        </p:nvSpPr>
        <p:spPr>
          <a:xfrm>
            <a:off x="7743392" y="766599"/>
            <a:ext cx="810058" cy="662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E52A75B-3D01-4CAB-FA2C-86E721B01E90}"/>
              </a:ext>
            </a:extLst>
          </p:cNvPr>
          <p:cNvSpPr txBox="1"/>
          <p:nvPr userDrawn="1"/>
        </p:nvSpPr>
        <p:spPr>
          <a:xfrm>
            <a:off x="7757296" y="982259"/>
            <a:ext cx="78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315x258</a:t>
            </a:r>
            <a:endParaRPr lang="ko-KR" altLang="en-US" sz="900" dirty="0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A88CD28A-E9B3-1F2B-7D87-F0C8C74B0BB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95015" y="1517796"/>
            <a:ext cx="2753273" cy="734206"/>
          </a:xfrm>
          <a:prstGeom prst="rect">
            <a:avLst/>
          </a:prstGeom>
          <a:ln w="6350">
            <a:solidFill>
              <a:schemeClr val="bg2">
                <a:lumMod val="90000"/>
              </a:schemeClr>
            </a:solidFill>
          </a:ln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6FC20A1F-81E6-90CD-8589-C73C2BBF762F}"/>
              </a:ext>
            </a:extLst>
          </p:cNvPr>
          <p:cNvSpPr/>
          <p:nvPr userDrawn="1"/>
        </p:nvSpPr>
        <p:spPr>
          <a:xfrm>
            <a:off x="6090707" y="1738814"/>
            <a:ext cx="1447077" cy="315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98CDF74-71E8-0B44-3897-0FB9054DCC91}"/>
              </a:ext>
            </a:extLst>
          </p:cNvPr>
          <p:cNvSpPr/>
          <p:nvPr userDrawn="1"/>
        </p:nvSpPr>
        <p:spPr>
          <a:xfrm>
            <a:off x="7537784" y="1535680"/>
            <a:ext cx="1129933" cy="71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6C3B35D-80D8-6DDD-8ECF-91F2649AA1E9}"/>
              </a:ext>
            </a:extLst>
          </p:cNvPr>
          <p:cNvGrpSpPr/>
          <p:nvPr userDrawn="1"/>
        </p:nvGrpSpPr>
        <p:grpSpPr>
          <a:xfrm>
            <a:off x="6064249" y="1664884"/>
            <a:ext cx="1565948" cy="440031"/>
            <a:chOff x="6064249" y="877752"/>
            <a:chExt cx="1501776" cy="440031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E949AAE-8EEC-F82E-265F-BCC29C2DA891}"/>
                </a:ext>
              </a:extLst>
            </p:cNvPr>
            <p:cNvSpPr/>
            <p:nvPr userDrawn="1"/>
          </p:nvSpPr>
          <p:spPr>
            <a:xfrm>
              <a:off x="6064250" y="877752"/>
              <a:ext cx="1501775" cy="2049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18DE7FA6-BEA9-29B7-6DE8-2DEDCAF2BBE2}"/>
                </a:ext>
              </a:extLst>
            </p:cNvPr>
            <p:cNvSpPr/>
            <p:nvPr userDrawn="1"/>
          </p:nvSpPr>
          <p:spPr>
            <a:xfrm>
              <a:off x="6064249" y="1112860"/>
              <a:ext cx="1501775" cy="2049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3" name="그림 10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935CFE99-1835-1F08-3281-ADBDCB53CDE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928" y="1526638"/>
            <a:ext cx="874581" cy="716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C52547B-1B32-7F29-6565-74CFE1D16729}"/>
              </a:ext>
            </a:extLst>
          </p:cNvPr>
          <p:cNvSpPr/>
          <p:nvPr userDrawn="1"/>
        </p:nvSpPr>
        <p:spPr>
          <a:xfrm>
            <a:off x="7743392" y="1550817"/>
            <a:ext cx="810058" cy="662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75A46E0-0E1E-C70A-E127-9817947E59F6}"/>
              </a:ext>
            </a:extLst>
          </p:cNvPr>
          <p:cNvSpPr txBox="1"/>
          <p:nvPr userDrawn="1"/>
        </p:nvSpPr>
        <p:spPr>
          <a:xfrm>
            <a:off x="7757296" y="1766477"/>
            <a:ext cx="78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/>
              <a:t>315x258</a:t>
            </a:r>
            <a:endParaRPr lang="ko-KR" altLang="en-US" sz="9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C36D07A-2C2F-14AC-7839-5BDF523DEA82}"/>
              </a:ext>
            </a:extLst>
          </p:cNvPr>
          <p:cNvSpPr/>
          <p:nvPr userDrawn="1"/>
        </p:nvSpPr>
        <p:spPr>
          <a:xfrm>
            <a:off x="6149782" y="-264"/>
            <a:ext cx="77451" cy="880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2DB1A02-E179-8EEA-14D4-6387A3F301B2}"/>
              </a:ext>
            </a:extLst>
          </p:cNvPr>
          <p:cNvSpPr/>
          <p:nvPr userDrawn="1"/>
        </p:nvSpPr>
        <p:spPr>
          <a:xfrm>
            <a:off x="6271897" y="-264"/>
            <a:ext cx="77451" cy="1116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12F7050-2865-02C6-560F-9EA724F44EA9}"/>
              </a:ext>
            </a:extLst>
          </p:cNvPr>
          <p:cNvSpPr/>
          <p:nvPr userDrawn="1"/>
        </p:nvSpPr>
        <p:spPr>
          <a:xfrm>
            <a:off x="7340583" y="-264"/>
            <a:ext cx="72060" cy="1665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F8EED8F-0DCC-913A-D9D1-4A04AFC38472}"/>
              </a:ext>
            </a:extLst>
          </p:cNvPr>
          <p:cNvSpPr/>
          <p:nvPr userDrawn="1"/>
        </p:nvSpPr>
        <p:spPr>
          <a:xfrm>
            <a:off x="7481705" y="-264"/>
            <a:ext cx="82536" cy="1900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4FE6ED3-78AD-78C2-55DC-C116F9345BC3}"/>
              </a:ext>
            </a:extLst>
          </p:cNvPr>
          <p:cNvSpPr/>
          <p:nvPr userDrawn="1"/>
        </p:nvSpPr>
        <p:spPr>
          <a:xfrm>
            <a:off x="8185399" y="-264"/>
            <a:ext cx="82536" cy="733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8743E7F-144F-D475-900F-29658F45172C}"/>
              </a:ext>
            </a:extLst>
          </p:cNvPr>
          <p:cNvSpPr/>
          <p:nvPr userDrawn="1"/>
        </p:nvSpPr>
        <p:spPr>
          <a:xfrm>
            <a:off x="8384307" y="-265"/>
            <a:ext cx="82536" cy="151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275320E-BCB0-B6F4-1F42-F4EC8724582D}"/>
              </a:ext>
            </a:extLst>
          </p:cNvPr>
          <p:cNvSpPr/>
          <p:nvPr userDrawn="1"/>
        </p:nvSpPr>
        <p:spPr>
          <a:xfrm flipV="1">
            <a:off x="0" y="953949"/>
            <a:ext cx="6062648" cy="46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31984F5-B8E0-5821-34AD-0F47D8F3A437}"/>
              </a:ext>
            </a:extLst>
          </p:cNvPr>
          <p:cNvSpPr/>
          <p:nvPr userDrawn="1"/>
        </p:nvSpPr>
        <p:spPr>
          <a:xfrm flipV="1">
            <a:off x="0" y="1364454"/>
            <a:ext cx="7693025" cy="54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9B75438-BA83-BA68-5485-B833957FCFF9}"/>
              </a:ext>
            </a:extLst>
          </p:cNvPr>
          <p:cNvSpPr/>
          <p:nvPr userDrawn="1"/>
        </p:nvSpPr>
        <p:spPr>
          <a:xfrm flipV="1">
            <a:off x="0" y="2088615"/>
            <a:ext cx="7693025" cy="54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136ADA8-5D37-195B-B392-F8989792D67F}"/>
              </a:ext>
            </a:extLst>
          </p:cNvPr>
          <p:cNvSpPr/>
          <p:nvPr userDrawn="1"/>
        </p:nvSpPr>
        <p:spPr>
          <a:xfrm flipV="1">
            <a:off x="0" y="3068903"/>
            <a:ext cx="7283787" cy="61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D3BCE62-785C-0FA4-2E53-D3B030321C53}"/>
              </a:ext>
            </a:extLst>
          </p:cNvPr>
          <p:cNvSpPr/>
          <p:nvPr userDrawn="1"/>
        </p:nvSpPr>
        <p:spPr>
          <a:xfrm flipV="1">
            <a:off x="1" y="2920461"/>
            <a:ext cx="4953000" cy="75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E0CF2AD-681B-12A2-2B52-ED964E37C03E}"/>
              </a:ext>
            </a:extLst>
          </p:cNvPr>
          <p:cNvSpPr/>
          <p:nvPr userDrawn="1"/>
        </p:nvSpPr>
        <p:spPr>
          <a:xfrm flipV="1">
            <a:off x="1" y="4061660"/>
            <a:ext cx="7234238" cy="203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DDCC4AC-F183-3153-8EE7-B1321F74E2A6}"/>
              </a:ext>
            </a:extLst>
          </p:cNvPr>
          <p:cNvSpPr/>
          <p:nvPr userDrawn="1"/>
        </p:nvSpPr>
        <p:spPr>
          <a:xfrm flipV="1">
            <a:off x="1" y="4440579"/>
            <a:ext cx="4899121" cy="203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2A221D3-78DB-FB29-6DE4-3411A776555A}"/>
              </a:ext>
            </a:extLst>
          </p:cNvPr>
          <p:cNvSpPr/>
          <p:nvPr userDrawn="1"/>
        </p:nvSpPr>
        <p:spPr>
          <a:xfrm>
            <a:off x="5714152" y="-7251"/>
            <a:ext cx="85127" cy="3268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3DB64B86-3D6A-7706-67F2-EF493F3A1B1D}"/>
              </a:ext>
            </a:extLst>
          </p:cNvPr>
          <p:cNvSpPr/>
          <p:nvPr userDrawn="1"/>
        </p:nvSpPr>
        <p:spPr>
          <a:xfrm>
            <a:off x="8934185" y="1"/>
            <a:ext cx="90289" cy="3261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C3601A0-DB06-FC71-4503-25F442F2109C}"/>
              </a:ext>
            </a:extLst>
          </p:cNvPr>
          <p:cNvCxnSpPr/>
          <p:nvPr userDrawn="1"/>
        </p:nvCxnSpPr>
        <p:spPr>
          <a:xfrm>
            <a:off x="4765103" y="716238"/>
            <a:ext cx="0" cy="4896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4C711F-D8F5-5709-F0E8-07B036ADBCBB}"/>
              </a:ext>
            </a:extLst>
          </p:cNvPr>
          <p:cNvSpPr/>
          <p:nvPr userDrawn="1"/>
        </p:nvSpPr>
        <p:spPr>
          <a:xfrm flipH="1">
            <a:off x="6606091" y="-264"/>
            <a:ext cx="45719" cy="27955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0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940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895F3-66F9-43EC-8FD8-5458355FBF86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7016-F89D-4150-9FAB-2AD71F2E4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55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62" r:id="rId3"/>
    <p:sldLayoutId id="2147483676" r:id="rId4"/>
    <p:sldLayoutId id="2147483682" r:id="rId5"/>
    <p:sldLayoutId id="2147483681" r:id="rId6"/>
    <p:sldLayoutId id="2147483679" r:id="rId7"/>
    <p:sldLayoutId id="2147483663" r:id="rId8"/>
    <p:sldLayoutId id="2147483680" r:id="rId9"/>
    <p:sldLayoutId id="2147483683" r:id="rId10"/>
    <p:sldLayoutId id="2147483684" r:id="rId11"/>
    <p:sldLayoutId id="214748367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4CE3AE-198A-3E48-0BD4-7E895FDFA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37608"/>
              </p:ext>
            </p:extLst>
          </p:nvPr>
        </p:nvGraphicFramePr>
        <p:xfrm>
          <a:off x="475052" y="3560508"/>
          <a:ext cx="8955895" cy="19013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7942">
                  <a:extLst>
                    <a:ext uri="{9D8B030D-6E8A-4147-A177-3AD203B41FA5}">
                      <a16:colId xmlns:a16="http://schemas.microsoft.com/office/drawing/2014/main" val="1509054777"/>
                    </a:ext>
                  </a:extLst>
                </a:gridCol>
                <a:gridCol w="3372464">
                  <a:extLst>
                    <a:ext uri="{9D8B030D-6E8A-4147-A177-3AD203B41FA5}">
                      <a16:colId xmlns:a16="http://schemas.microsoft.com/office/drawing/2014/main" val="1142362779"/>
                    </a:ext>
                  </a:extLst>
                </a:gridCol>
                <a:gridCol w="1465007">
                  <a:extLst>
                    <a:ext uri="{9D8B030D-6E8A-4147-A177-3AD203B41FA5}">
                      <a16:colId xmlns:a16="http://schemas.microsoft.com/office/drawing/2014/main" val="2518436413"/>
                    </a:ext>
                  </a:extLst>
                </a:gridCol>
                <a:gridCol w="3010482">
                  <a:extLst>
                    <a:ext uri="{9D8B030D-6E8A-4147-A177-3AD203B41FA5}">
                      <a16:colId xmlns:a16="http://schemas.microsoft.com/office/drawing/2014/main" val="2102903380"/>
                    </a:ext>
                  </a:extLst>
                </a:gridCol>
              </a:tblGrid>
              <a:tr h="61912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광고구분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소재명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심사구분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심사필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520698"/>
                  </a:ext>
                </a:extLst>
              </a:tr>
              <a:tr h="1282224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79499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4690AB0-3CA5-C68C-597E-B0D64BF98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120" y="1136327"/>
            <a:ext cx="1111757" cy="32434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AE38D4B-6BAD-7575-2623-B468E932CCA4}"/>
              </a:ext>
            </a:extLst>
          </p:cNvPr>
          <p:cNvSpPr/>
          <p:nvPr/>
        </p:nvSpPr>
        <p:spPr>
          <a:xfrm>
            <a:off x="-1" y="1733149"/>
            <a:ext cx="9906001" cy="1695851"/>
          </a:xfrm>
          <a:prstGeom prst="rect">
            <a:avLst/>
          </a:prstGeom>
          <a:pattFill prst="pct60">
            <a:fgClr>
              <a:srgbClr val="1351F9"/>
            </a:fgClr>
            <a:bgClr>
              <a:schemeClr val="tx1"/>
            </a:bgClr>
          </a:patt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A1674-2FD6-B3BD-E637-4B1AD3B857F3}"/>
              </a:ext>
            </a:extLst>
          </p:cNvPr>
          <p:cNvSpPr txBox="1"/>
          <p:nvPr/>
        </p:nvSpPr>
        <p:spPr>
          <a:xfrm>
            <a:off x="-412750" y="2275007"/>
            <a:ext cx="10731499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ㅇㅇ 신규소재 </a:t>
            </a:r>
            <a:r>
              <a:rPr lang="ko-KR" altLang="en-US" sz="32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심사 요청 </a:t>
            </a:r>
            <a:r>
              <a:rPr lang="en-US" altLang="ko-KR" sz="32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– </a:t>
            </a:r>
            <a:r>
              <a:rPr lang="ko-KR" altLang="en-US" sz="32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ㅇ종</a:t>
            </a:r>
            <a:endParaRPr lang="en-US" altLang="ko-KR" sz="32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5A3593D-645F-16DB-614E-187741D4A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051513"/>
              </p:ext>
            </p:extLst>
          </p:nvPr>
        </p:nvGraphicFramePr>
        <p:xfrm>
          <a:off x="475052" y="5593363"/>
          <a:ext cx="8955895" cy="9658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7942">
                  <a:extLst>
                    <a:ext uri="{9D8B030D-6E8A-4147-A177-3AD203B41FA5}">
                      <a16:colId xmlns:a16="http://schemas.microsoft.com/office/drawing/2014/main" val="1509054777"/>
                    </a:ext>
                  </a:extLst>
                </a:gridCol>
                <a:gridCol w="7847953">
                  <a:extLst>
                    <a:ext uri="{9D8B030D-6E8A-4147-A177-3AD203B41FA5}">
                      <a16:colId xmlns:a16="http://schemas.microsoft.com/office/drawing/2014/main" val="1142362779"/>
                    </a:ext>
                  </a:extLst>
                </a:gridCol>
              </a:tblGrid>
              <a:tr h="9658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광고매체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트레이딩웍스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 err="1"/>
                        <a:t>크로스타겟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TNK / </a:t>
                      </a:r>
                      <a:r>
                        <a:rPr lang="ko-KR" altLang="en-US" sz="1200" dirty="0" err="1"/>
                        <a:t>카울리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GDN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 err="1"/>
                        <a:t>인베스팅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네이버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카카오 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 Meta(</a:t>
                      </a:r>
                      <a:r>
                        <a:rPr lang="ko-KR" altLang="en-US" sz="1200" dirty="0"/>
                        <a:t>페이스북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 err="1"/>
                        <a:t>인스타그램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 err="1"/>
                        <a:t>왓츠앱</a:t>
                      </a:r>
                      <a:r>
                        <a:rPr lang="en-US" altLang="ko-KR" sz="1200" dirty="0"/>
                        <a:t>) / </a:t>
                      </a:r>
                      <a:r>
                        <a:rPr lang="ko-KR" altLang="en-US" sz="1200" dirty="0"/>
                        <a:t>구글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 err="1"/>
                        <a:t>크리테오</a:t>
                      </a:r>
                      <a:r>
                        <a:rPr lang="en-US" altLang="ko-KR" sz="1200" dirty="0"/>
                        <a:t> / </a:t>
                      </a:r>
                      <a:r>
                        <a:rPr lang="ko-KR" altLang="en-US" sz="1200" dirty="0" err="1"/>
                        <a:t>몰로코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RTB</a:t>
                      </a:r>
                      <a:r>
                        <a:rPr lang="ko-KR" altLang="en-US" sz="1200" dirty="0"/>
                        <a:t>하우스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 err="1"/>
                        <a:t>리머지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트위터 등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온라인 지면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52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64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2207</TotalTime>
  <Words>51</Words>
  <Application>Microsoft Office PowerPoint</Application>
  <PresentationFormat>A4 용지(210x297mm)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바탕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혜빈</dc:creator>
  <cp:lastModifiedBy>문 석민</cp:lastModifiedBy>
  <cp:revision>93</cp:revision>
  <dcterms:created xsi:type="dcterms:W3CDTF">2023-06-22T06:54:14Z</dcterms:created>
  <dcterms:modified xsi:type="dcterms:W3CDTF">2024-10-18T05:54:23Z</dcterms:modified>
</cp:coreProperties>
</file>